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315200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9BB0"/>
                </a:solidFill>
                <a:latin typeface="Aptos"/>
              </a:rPr>
              <a:t>PSYCHOFIZJOLOGIA I POMIAR EEG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44752"/>
            <a:ext cx="8961120" cy="214884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500" b="1">
                <a:solidFill>
                  <a:srgbClr val="FFFFFF"/>
                </a:solidFill>
                <a:latin typeface="Aptos"/>
              </a:rPr>
              <a:t>EEG-BIDS jako warunek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500" b="1">
                <a:solidFill>
                  <a:srgbClr val="FFFFFF"/>
                </a:solidFill>
                <a:latin typeface="Aptos"/>
              </a:rPr>
              <a:t>wiarygodnej inferencji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500" b="1">
                <a:solidFill>
                  <a:srgbClr val="FFFFFF"/>
                </a:solidFill>
                <a:latin typeface="Aptos"/>
              </a:rPr>
              <a:t>ze sygnału EEG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4251960"/>
            <a:ext cx="10698480" cy="68580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Identyfikowalność · analiza widmowa · wrażliwość na decyzje metodologiczne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5239512"/>
            <a:ext cx="4700016" cy="22860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5449824"/>
            <a:ext cx="9144000" cy="31089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Mateusz Pomianek  ·  seminarium zaawansowane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5330952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56248" y="5156460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0255" y="5024454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84264" y="4966291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48272" y="4994017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12279" y="5097273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76288" y="5246125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0296" y="5399049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04304" y="5513977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68312" y="5559460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5523014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96327" y="5414438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0336" y="5263210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24344" y="5110682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88352" y="4999099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60383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16367" y="5007621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0375" y="5131521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44383" y="5302782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08392" y="5479734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0" y="5619256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36408" y="5688064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00416" y="5671413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64423" y="5576889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28431" y="5432316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5278319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56448" y="5157511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0456" y="5103177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84464" y="5130434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48471" y="5232212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12480" y="5381123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76488" y="5536709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40496" y="5656175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04504" y="5705748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68512" y="5669667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32520" y="5554428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96528" y="5387154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60536" y="5208521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24544" y="5062108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88552" y="4982978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52560" y="4988518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16567" y="5073943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80576" y="5213655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44584" y="5368099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08592" y="5494294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372600" y="5557260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36608" y="5539307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500616" y="5444749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564624" y="5298769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28632" y="5140761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92640" y="5013889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56648" y="4953639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20656" y="4978380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884664" y="5084440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948672" y="5246988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12680" y="5426514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076688" y="5579168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140696" y="5668250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204704" y="5673809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268712" y="5597810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332720" y="5463517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396728" y="5309252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460736" y="5178182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524744" y="5106839"/>
            <a:ext cx="40233" cy="4114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9496" y="6473952"/>
            <a:ext cx="3657600" cy="18288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22 SLAJDY · 30–35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PYTANIE BADAWCZE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To samo EEG, różne efekty statystyczne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02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426464"/>
            <a:ext cx="3529584" cy="3328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536192"/>
            <a:ext cx="3218688" cy="41148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1F32"/>
                </a:solidFill>
                <a:latin typeface="Aptos"/>
              </a:rPr>
              <a:t>Hipoteza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956816"/>
            <a:ext cx="3209544" cy="2715768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Czy EC względem EO zwiększa moc alfa w okolicy potylicznej?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Efekt pozornie prosty; estymator zależy od szeregu decyzji.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42232" y="1426464"/>
            <a:ext cx="3529584" cy="3328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536192"/>
            <a:ext cx="3218688" cy="41148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1F32"/>
                </a:solidFill>
                <a:latin typeface="Aptos"/>
              </a:rPr>
              <a:t>Decyzje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956816"/>
            <a:ext cx="3209544" cy="2715768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Referencja · pasmo · segmenty · artefakty · filtry · okna · kanały · model błędu.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5552" y="1426464"/>
            <a:ext cx="3447288" cy="3328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536192"/>
            <a:ext cx="3136392" cy="41148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1F32"/>
                </a:solidFill>
                <a:latin typeface="Aptos"/>
              </a:rPr>
              <a:t>Kryterium naukowe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956816"/>
            <a:ext cx="3127248" cy="2715768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Czy wynik pozostaje interpretowalny i stabilny po ujawnieniu całego pipeline’u?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" y="5276088"/>
            <a:ext cx="11274552" cy="301752"/>
          </a:xfrm>
          <a:prstGeom prst="roundRect">
            <a:avLst>
              <a:gd name="adj" fmla="val 10000"/>
            </a:avLst>
          </a:prstGeom>
          <a:solidFill>
            <a:srgbClr val="DF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321807"/>
            <a:ext cx="11018520" cy="21945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71F32"/>
                </a:solidFill>
                <a:latin typeface="Aptos"/>
              </a:rPr>
              <a:t>Nie pytamy tylko „czy jest efekt?”, ale „od czego zależy jego wielkość i pewność?”.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DANE I OGRANICZENIA INFERENCJI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PhysioNet EEGMMIDB: przypadek kontrolny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03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0881360" cy="20116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7284"/>
                </a:solidFill>
                <a:latin typeface="Aptos"/>
              </a:rPr>
              <a:t>Źródło: PhysioNet EEGMMIDB v1.0.0; BCI2000; EDF+.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89888"/>
            <a:ext cx="5449824" cy="3063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99616"/>
            <a:ext cx="5138928" cy="41148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1F32"/>
                </a:solidFill>
                <a:latin typeface="Aptos"/>
              </a:rPr>
              <a:t>Zbiór archiwalny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920240"/>
            <a:ext cx="5129784" cy="2450592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109 osób  |  64 kanały  |  160 Hz  |  system 10–10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R01: EO  (spoczynek)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R02: EC  (spoczynek)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R04: MI  (wyobrażenie ruchu ręki)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389888"/>
            <a:ext cx="5623560" cy="3063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499616"/>
            <a:ext cx="5312664" cy="41148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1F32"/>
                </a:solidFill>
                <a:latin typeface="Aptos"/>
              </a:rPr>
              <a:t>Niejednoznaczność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920240"/>
            <a:ext cx="5303520" cy="2450592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Kolejność R01 → R02 jest stała w protokole: kolejność i warunek są współzmienne.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Jedno nagranie nie daje podstaw do wnioskowania populacyjnego.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" y="5001768"/>
            <a:ext cx="11274552" cy="301752"/>
          </a:xfrm>
          <a:prstGeom prst="roundRect">
            <a:avLst>
              <a:gd name="adj" fmla="val 1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047488"/>
            <a:ext cx="11018520" cy="21945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BB4F55"/>
                </a:solidFill>
                <a:latin typeface="Aptos"/>
              </a:rPr>
              <a:t>W tej wersji wykresy metodologiczne są SYNTETYCZNE; kod importu PhysioNet jest wykonywalny po pobraniu EDF.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KONTRAKT DANYCH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Dwie ścieżki akwizycji, wspólny model pochodzenia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04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371600"/>
            <a:ext cx="5394960" cy="3520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481328"/>
            <a:ext cx="5084064" cy="41148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1F32"/>
                </a:solidFill>
                <a:latin typeface="Aptos"/>
              </a:rPr>
              <a:t>ARCHIWUM PUBLICZNE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901952"/>
            <a:ext cx="5074920" cy="2907792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BCI2000 → EDF+ → MNE → QC → BIDS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Znane: układ kanałów, fs=160 Hz, runy, źródło.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Nieznane parametry: brak arbitralnego uzupełniania.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1371600"/>
            <a:ext cx="5678424" cy="3520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1481328"/>
            <a:ext cx="5367528" cy="41148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1F32"/>
                </a:solidFill>
                <a:latin typeface="Aptos"/>
              </a:rPr>
              <a:t>WŁASNA REJESTRACJA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1901952"/>
            <a:ext cx="5358384" cy="2907792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Sprzęt → próbki/znaczniki → QC → niezmienny zapis → eksport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Bramki: referencja, jednostki, BLE, utraty próbek, opóźnienia, synchronizacja.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5285232"/>
            <a:ext cx="11274552" cy="301752"/>
          </a:xfrm>
          <a:prstGeom prst="roundRect">
            <a:avLst>
              <a:gd name="adj" fmla="val 10000"/>
            </a:avLst>
          </a:prstGeom>
          <a:solidFill>
            <a:srgbClr val="DF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330952"/>
            <a:ext cx="11018520" cy="21945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71F32"/>
                </a:solidFill>
                <a:latin typeface="Aptos"/>
              </a:rPr>
              <a:t>Warunek konieczny: wspólne metadane, niezależnie od źródła sygnału.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Inwarianty, które trzeba zachować między formatami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05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353312"/>
            <a:ext cx="11283696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53896"/>
            <a:ext cx="2304288" cy="5029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9BB0"/>
                </a:solidFill>
                <a:latin typeface="Aptos"/>
              </a:rPr>
              <a:t>Identyfikacja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1453896"/>
            <a:ext cx="6711696" cy="51206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source_id, SHA-256, subject/run/task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6064" y="1453896"/>
            <a:ext cx="1865376" cy="5029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7284"/>
                </a:solidFill>
                <a:latin typeface="Aptos"/>
              </a:rPr>
              <a:t>pochodzenie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" y="2176272"/>
            <a:ext cx="11283696" cy="713232"/>
          </a:xfrm>
          <a:prstGeom prst="roundRect">
            <a:avLst>
              <a:gd name="adj" fmla="val 10000"/>
            </a:avLst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76856"/>
            <a:ext cx="2304288" cy="5029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9BB0"/>
                </a:solidFill>
                <a:latin typeface="Aptos"/>
              </a:rPr>
              <a:t>Czas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276856"/>
            <a:ext cx="6711696" cy="51206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fs, czas źródłowy, przerwy, zdarzenia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6064" y="2276856"/>
            <a:ext cx="1865376" cy="5029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7284"/>
                </a:solidFill>
                <a:latin typeface="Aptos"/>
              </a:rPr>
              <a:t>chronologia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" y="2999232"/>
            <a:ext cx="11283696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99816"/>
            <a:ext cx="2304288" cy="5029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9BB0"/>
                </a:solidFill>
                <a:latin typeface="Aptos"/>
              </a:rPr>
              <a:t>Pomiar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3099816"/>
            <a:ext cx="6711696" cy="51206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units, gain, reference, channel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3099816"/>
            <a:ext cx="1865376" cy="5029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7284"/>
                </a:solidFill>
                <a:latin typeface="Aptos"/>
              </a:rPr>
              <a:t>wymiar fizyczny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" y="3822191"/>
            <a:ext cx="11283696" cy="713232"/>
          </a:xfrm>
          <a:prstGeom prst="roundRect">
            <a:avLst>
              <a:gd name="adj" fmla="val 10000"/>
            </a:avLst>
          </a:prstGeom>
          <a:solidFill>
            <a:srgbClr val="E9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922776"/>
            <a:ext cx="2304288" cy="5029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9BB0"/>
                </a:solidFill>
                <a:latin typeface="Aptos"/>
              </a:rPr>
              <a:t>Transformacje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0944" y="3922776"/>
            <a:ext cx="6711696" cy="51206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filtry, parametry, kod, wersje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6064" y="3922776"/>
            <a:ext cx="1865376" cy="5029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7284"/>
                </a:solidFill>
                <a:latin typeface="Aptos"/>
              </a:rPr>
              <a:t>możliwość odtworzenia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" y="4645152"/>
            <a:ext cx="11283696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745736"/>
            <a:ext cx="2304288" cy="5029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9BB0"/>
                </a:solidFill>
                <a:latin typeface="Aptos"/>
              </a:rPr>
              <a:t>Walidacja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4745736"/>
            <a:ext cx="6711696" cy="51206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BIDS Validator + kontrola round-trip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6064" y="4745736"/>
            <a:ext cx="1865376" cy="5029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D7284"/>
                </a:solidFill>
                <a:latin typeface="Aptos"/>
              </a:rPr>
              <a:t>interoperacyjność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" y="5779008"/>
            <a:ext cx="11274552" cy="301752"/>
          </a:xfrm>
          <a:prstGeom prst="roundRect">
            <a:avLst>
              <a:gd name="adj" fmla="val 10000"/>
            </a:avLst>
          </a:prstGeom>
          <a:solidFill>
            <a:srgbClr val="DF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824728"/>
            <a:ext cx="11018520" cy="21945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71F32"/>
                </a:solidFill>
                <a:latin typeface="Aptos"/>
              </a:rPr>
              <a:t>Dowód integralności: identyczny rozmiar macierzy nie oznacza jeszcze zgodności wartości i czasu.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EEG-BIDS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Walidacja schematu nie waliduje fizjologii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06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0881360" cy="20116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7284"/>
                </a:solidFill>
                <a:latin typeface="Aptos"/>
              </a:rPr>
              <a:t>Pernet et al., Scientific Data 6, 103 (2019); BIDS EEG Specification.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53312"/>
            <a:ext cx="5358384" cy="4315968"/>
          </a:xfrm>
          <a:prstGeom prst="roundRect">
            <a:avLst>
              <a:gd name="adj" fmla="val 10000"/>
            </a:avLst>
          </a:prstGeom>
          <a:solidFill>
            <a:srgbClr val="07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36192"/>
            <a:ext cx="4992624" cy="3950207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DejaVu Sans Mono"/>
              </a:rPr>
              <a:t>{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DejaVu Sans Mono"/>
              </a:rPr>
              <a:t>  "TaskName": "eyesclosed",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DejaVu Sans Mono"/>
              </a:rPr>
              <a:t>  "SamplingFrequency": 160,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DejaVu Sans Mono"/>
              </a:rPr>
              <a:t>  "EEGReference": "n/a",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DejaVu Sans Mono"/>
              </a:rPr>
              <a:t>  "PowerLineFrequency": "n/a",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DejaVu Sans Mono"/>
              </a:rPr>
              <a:t>  "SoftwareFilters": "n/a"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DejaVu Sans Mono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25896" y="1399032"/>
            <a:ext cx="569671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1490472"/>
            <a:ext cx="542239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Walidator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056" y="1783080"/>
            <a:ext cx="542239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283F"/>
                </a:solidFill>
                <a:latin typeface="Aptos"/>
              </a:rPr>
              <a:t>Kontroluje strukturę, nazwy i pola wymagane przez standard.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5896" y="2542032"/>
            <a:ext cx="569671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3056" y="2633472"/>
            <a:ext cx="542239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Porównanie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2926080"/>
            <a:ext cx="542239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283F"/>
                </a:solidFill>
                <a:latin typeface="Aptos"/>
              </a:rPr>
              <a:t>Próbki, typy kanałów, zdarzenia, czas i zaokrąglenia po konwersji.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5896" y="3685032"/>
            <a:ext cx="569671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6" y="3776472"/>
            <a:ext cx="542239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Interpretacja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4069080"/>
            <a:ext cx="542239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283F"/>
                </a:solidFill>
                <a:latin typeface="Aptos"/>
              </a:rPr>
              <a:t>Nie dowodzi poprawnego montażu, synchronizacji ani braku artefaktów.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" y="5806440"/>
            <a:ext cx="11274552" cy="301752"/>
          </a:xfrm>
          <a:prstGeom prst="roundRect">
            <a:avLst>
              <a:gd name="adj" fmla="val 10000"/>
            </a:avLst>
          </a:prstGeom>
          <a:solidFill>
            <a:srgbClr val="DF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52159"/>
            <a:ext cx="11018520" cy="21945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71F32"/>
                </a:solidFill>
                <a:latin typeface="Aptos"/>
              </a:rPr>
              <a:t>„n/a” oznacza brak wiarygodnej informacji; nie należy mylić go z parametrem zmierzonym.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MNE-BIDS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Round-trip: test semantyczny, nie tylko plikowy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07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89888"/>
            <a:ext cx="7351775" cy="4160520"/>
          </a:xfrm>
          <a:prstGeom prst="roundRect">
            <a:avLst>
              <a:gd name="adj" fmla="val 10000"/>
            </a:avLst>
          </a:prstGeom>
          <a:solidFill>
            <a:srgbClr val="07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6986015" cy="3794759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DejaVu Sans Mono"/>
              </a:rPr>
              <a:t>from mne_bids import BIDSPath, read_raw_bids, write_raw_bids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DejaVu Sans Mono"/>
              </a:rPr>
              <a:t>raw0 = mne.io.read_raw_edf(src, preload=False)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DejaVu Sans Mono"/>
              </a:rPr>
              <a:t>path = BIDSPath(subject="001", task="eyesopen",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DejaVu Sans Mono"/>
              </a:rPr>
              <a:t>                datatype="eeg", root=dst)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DejaVu Sans Mono"/>
              </a:rPr>
              <a:t>write_raw_bids(raw0, path, format="BrainVision")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DejaVu Sans Mono"/>
              </a:rPr>
              <a:t>raw1 = read_raw_bids(path, verbose=False)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DejaVu Sans Mono"/>
              </a:rPr>
              <a:t>assert raw1.info["sfreq"] == raw0.info["sfreq"]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DejaVu Sans Mono"/>
              </a:rPr>
              <a:t>assert raw1.ch_names == raw0.ch_names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37216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447288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Na co uważać?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01368"/>
            <a:ext cx="3447288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10283F"/>
                </a:solidFill>
                <a:latin typeface="Aptos"/>
              </a:rPr>
              <a:t>Kwantyzacja BrainVision, tolerancja numeryczna, odczyt zdarzeń.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560320"/>
            <a:ext cx="37216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651760"/>
            <a:ext cx="3447288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Dane pierwotne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944368"/>
            <a:ext cx="3447288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10283F"/>
                </a:solidFill>
                <a:latin typeface="Aptos"/>
              </a:rPr>
              <a:t>Eksport ze źródłowego, nieprzefiltrowanego Raw.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703320"/>
            <a:ext cx="372160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794759"/>
            <a:ext cx="3447288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Bramka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087368"/>
            <a:ext cx="3447288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10283F"/>
                </a:solidFill>
                <a:latin typeface="Aptos"/>
              </a:rPr>
              <a:t>Osobny uruchomiony BIDS Validator; jego status należy zachować.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MODEL SYGNAŁU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Składowa oscylacyjna na tle aperiodicznym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08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0881360" cy="20116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7284"/>
                </a:solidFill>
                <a:latin typeface="Aptos"/>
              </a:rPr>
              <a:t>Wykres wygenerowany przez figure_pipeline.py; dane syntetyczne.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6236208"/>
            <a:ext cx="2834640" cy="228600"/>
          </a:xfrm>
          <a:prstGeom prst="roundRect">
            <a:avLst>
              <a:gd name="adj" fmla="val 1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6254496"/>
            <a:ext cx="2724912" cy="17373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B4F55"/>
                </a:solidFill>
                <a:latin typeface="Aptos"/>
              </a:rPr>
              <a:t>SYMULACJA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7662672" cy="4480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7_aperiod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7857"/>
            <a:ext cx="7662672" cy="322804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21040" y="1362456"/>
            <a:ext cx="341071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453896"/>
            <a:ext cx="313639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746504"/>
            <a:ext cx="313639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10283F"/>
                </a:solidFill>
                <a:latin typeface="Aptos"/>
              </a:rPr>
              <a:t>Zwiększenie mocy w 8–13 Hz może wynikać z piku α lub zmiany tła 1/f.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505456"/>
            <a:ext cx="341071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596896"/>
            <a:ext cx="313639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Warunek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889504"/>
            <a:ext cx="313639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10283F"/>
                </a:solidFill>
                <a:latin typeface="Aptos"/>
              </a:rPr>
              <a:t>Raportuj PSD absolutne i metodę estymacji komponentu aperiodicznego.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648456"/>
            <a:ext cx="341071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739896"/>
            <a:ext cx="313639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Pułapka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032504"/>
            <a:ext cx="313639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10283F"/>
                </a:solidFill>
                <a:latin typeface="Aptos"/>
              </a:rPr>
              <a:t>Dopasowanie tła nie jest w tym przykładzie zweryfikowaną dekompozycją FOOOF.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ESTYMACJA WIDMOWA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Welch: kompromis rozdzielczość–wariancja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09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0881360" cy="20116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7284"/>
                </a:solidFill>
                <a:latin typeface="Aptos"/>
              </a:rPr>
              <a:t>Model dwóch pobliskich oscylacji (9,5 i 10,4 Hz); dane syntetyczne.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6236208"/>
            <a:ext cx="2834640" cy="228600"/>
          </a:xfrm>
          <a:prstGeom prst="roundRect">
            <a:avLst>
              <a:gd name="adj" fmla="val 1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6254496"/>
            <a:ext cx="2724912" cy="17373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B4F55"/>
                </a:solidFill>
                <a:latin typeface="Aptos"/>
              </a:rPr>
              <a:t>SYMULACJA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62456"/>
            <a:ext cx="7708392" cy="4526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_welch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04"/>
            <a:ext cx="7708392" cy="386798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66760" y="1353312"/>
            <a:ext cx="336499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44752"/>
            <a:ext cx="309067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Zależność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737360"/>
            <a:ext cx="309067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0283F"/>
                </a:solidFill>
                <a:latin typeface="Aptos"/>
              </a:rPr>
              <a:t>Δf = fs / nperseg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496312"/>
            <a:ext cx="336499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587752"/>
            <a:ext cx="309067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Przykład przy 160 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80360"/>
            <a:ext cx="309067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0283F"/>
                </a:solidFill>
                <a:latin typeface="Aptos"/>
              </a:rPr>
              <a:t>256 próbek → 0,625 Hz; 1024 próbek → 0,156 Hz.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639312"/>
            <a:ext cx="336499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730752"/>
            <a:ext cx="309067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Konsekwencja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023360"/>
            <a:ext cx="309067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10283F"/>
                </a:solidFill>
                <a:latin typeface="Aptos"/>
              </a:rPr>
              <a:t>Większe okno poprawia rozdzielczość, ale zmniejsza liczbę niezależnych segmentów.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OPERACJONALIZACJA RYTMU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Stałe pasmo 8–13 Hz ≠ indywidualny pik alfa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10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0881360" cy="20116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7284"/>
                </a:solidFill>
                <a:latin typeface="Aptos"/>
              </a:rPr>
              <a:t>Model syntetyczny EO/EC; nie są to pomiary uczestnika.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6236208"/>
            <a:ext cx="2834640" cy="228600"/>
          </a:xfrm>
          <a:prstGeom prst="roundRect">
            <a:avLst>
              <a:gd name="adj" fmla="val 1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6254496"/>
            <a:ext cx="2724912" cy="17373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B4F55"/>
                </a:solidFill>
                <a:latin typeface="Aptos"/>
              </a:rPr>
              <a:t>SYMULACJA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" y="1389888"/>
            <a:ext cx="7708392" cy="44622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_psd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669307"/>
            <a:ext cx="7708392" cy="390343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66760" y="1353312"/>
            <a:ext cx="336499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44752"/>
            <a:ext cx="309067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Wariant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737360"/>
            <a:ext cx="309067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0283F"/>
                </a:solidFill>
                <a:latin typeface="Aptos"/>
              </a:rPr>
              <a:t>Moc zintegrowana 8–13 Hz: łatwa replikacja, możliwy błąd dopasowania.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496312"/>
            <a:ext cx="336499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587752"/>
            <a:ext cx="309067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Wariant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80360"/>
            <a:ext cx="309067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0283F"/>
                </a:solidFill>
                <a:latin typeface="Aptos"/>
              </a:rPr>
              <a:t>IAF i pasmo indywidualne: wymaga stabilnej, niezależnej estymacji.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3639312"/>
            <a:ext cx="336499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730752"/>
            <a:ext cx="309067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Wynik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023360"/>
            <a:ext cx="309067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0283F"/>
                </a:solidFill>
                <a:latin typeface="Aptos"/>
              </a:rPr>
              <a:t>Zapis definicji pasma jest częścią hipotezy, nie detalem technicznym.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QUALITY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Artefakty zmieniają estymator, nie tylko wygląd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11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0881360" cy="20116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7284"/>
                </a:solidFill>
                <a:latin typeface="Aptos"/>
              </a:rPr>
              <a:t>Przykład EOG syntetycznego; okna wyłączone jedynie na podstawie znanego znacznika modelu.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6236208"/>
            <a:ext cx="2834640" cy="228600"/>
          </a:xfrm>
          <a:prstGeom prst="roundRect">
            <a:avLst>
              <a:gd name="adj" fmla="val 1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6254496"/>
            <a:ext cx="2724912" cy="17373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B4F55"/>
                </a:solidFill>
                <a:latin typeface="Aptos"/>
              </a:rPr>
              <a:t>SYMULACJA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" y="1371600"/>
            <a:ext cx="8229600" cy="4526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_artifact_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908455"/>
            <a:ext cx="8229600" cy="34525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915400" y="1371600"/>
            <a:ext cx="278892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463040"/>
            <a:ext cx="2514600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QC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755648"/>
            <a:ext cx="2514600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83F"/>
                </a:solidFill>
                <a:latin typeface="Aptos"/>
              </a:rPr>
              <a:t>Zapisuj kryteria i frakcję odrzuconych okien.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514600"/>
            <a:ext cx="278892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2606040"/>
            <a:ext cx="2514600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Interpretacja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898648"/>
            <a:ext cx="2514600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83F"/>
                </a:solidFill>
                <a:latin typeface="Aptos"/>
              </a:rPr>
              <a:t>Usuwanie nie może zależeć wyłącznie od oczekiwanego efektu.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3657600"/>
            <a:ext cx="278892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3749039"/>
            <a:ext cx="2514600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Ograniczenie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4041648"/>
            <a:ext cx="2514600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83F"/>
                </a:solidFill>
                <a:latin typeface="Aptos"/>
              </a:rPr>
              <a:t>Próg amplitudy ≠ dekompozycja EOG/EMG.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Filtracja może generować artefakty czasowe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12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0881360" cy="20116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7284"/>
                </a:solidFill>
                <a:latin typeface="Aptos"/>
              </a:rPr>
              <a:t>Filtr Butterwortha 1–40 Hz, sygnał impulsowy; model syntetyczny.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6236208"/>
            <a:ext cx="2834640" cy="228600"/>
          </a:xfrm>
          <a:prstGeom prst="roundRect">
            <a:avLst>
              <a:gd name="adj" fmla="val 1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6254496"/>
            <a:ext cx="2724912" cy="17373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B4F55"/>
                </a:solidFill>
                <a:latin typeface="Aptos"/>
              </a:rPr>
              <a:t>SYMULACJA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" y="1380744"/>
            <a:ext cx="8183879" cy="45171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8_filter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950989"/>
            <a:ext cx="8183879" cy="337664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869680" y="1389888"/>
            <a:ext cx="28529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481328"/>
            <a:ext cx="2578608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Cena pasma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773936"/>
            <a:ext cx="2578608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83F"/>
                </a:solidFill>
                <a:latin typeface="Aptos"/>
              </a:rPr>
              <a:t>Dzwonienie przy transjentach i odpowiedź blisko krawędzi pasma.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532888"/>
            <a:ext cx="28529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624328"/>
            <a:ext cx="2578608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Faza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916936"/>
            <a:ext cx="2578608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83F"/>
                </a:solidFill>
                <a:latin typeface="Aptos"/>
              </a:rPr>
              <a:t>filtfilt eliminuje przesunięcie fazowe, ale jest niekauzalne.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675887"/>
            <a:ext cx="28529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3767327"/>
            <a:ext cx="2578608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Do raportu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4059935"/>
            <a:ext cx="2578608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83F"/>
                </a:solidFill>
                <a:latin typeface="Aptos"/>
              </a:rPr>
              <a:t>Typ, rząd, częstotliwości graniczne, warunki brzegowe.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REFERENCJA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Referencja to operator liniowy zmieniający kontrast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13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0881360" cy="20116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7284"/>
                </a:solidFill>
                <a:latin typeface="Aptos"/>
              </a:rPr>
              <a:t>Topografie syntetyczne z montażem standard_1020; pozycje szablonowe.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6236208"/>
            <a:ext cx="2834640" cy="228600"/>
          </a:xfrm>
          <a:prstGeom prst="roundRect">
            <a:avLst>
              <a:gd name="adj" fmla="val 1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6254496"/>
            <a:ext cx="2724912" cy="17373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B4F55"/>
                </a:solidFill>
                <a:latin typeface="Aptos"/>
              </a:rPr>
              <a:t>SYMULACJA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62456"/>
            <a:ext cx="8284464" cy="45902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_reference_topo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5823"/>
            <a:ext cx="8284464" cy="378355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961120" y="1408176"/>
            <a:ext cx="277063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499616"/>
            <a:ext cx="249631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CAR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792224"/>
            <a:ext cx="249631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83F"/>
                </a:solidFill>
                <a:latin typeface="Aptos"/>
              </a:rPr>
              <a:t>Vᵢ′ = Vᵢ − mean(Vⱼ)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551176"/>
            <a:ext cx="277063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642616"/>
            <a:ext cx="249631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Cz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935224"/>
            <a:ext cx="249631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83F"/>
                </a:solidFill>
                <a:latin typeface="Aptos"/>
              </a:rPr>
              <a:t>Vᵢ′ = Vᵢ − V_Cz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694176"/>
            <a:ext cx="2770632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3785615"/>
            <a:ext cx="2496312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Wniosek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078224"/>
            <a:ext cx="2496312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83F"/>
                </a:solidFill>
                <a:latin typeface="Aptos"/>
              </a:rPr>
              <a:t>Ten sam model źródła daje odmienne mapy dB po zmianie referencji.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ANALIZA WRAŻLIWOŚCI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„Multiverse” decyzji analitycznych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14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0881360" cy="20116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7284"/>
                </a:solidFill>
                <a:latin typeface="Aptos"/>
              </a:rPr>
              <a:t>Zmiana referencji, parametru Welcha i zakresu pasma; dane syntetyczne.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6236208"/>
            <a:ext cx="2834640" cy="228600"/>
          </a:xfrm>
          <a:prstGeom prst="roundRect">
            <a:avLst>
              <a:gd name="adj" fmla="val 1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6254496"/>
            <a:ext cx="2724912" cy="17373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B4F55"/>
                </a:solidFill>
                <a:latin typeface="Aptos"/>
              </a:rPr>
              <a:t>SYMULACJA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62456"/>
            <a:ext cx="8138160" cy="4562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6_multi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9542"/>
            <a:ext cx="8138160" cy="446868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851392" y="1399032"/>
            <a:ext cx="288950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490472"/>
            <a:ext cx="2615184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Specyfikacja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1783080"/>
            <a:ext cx="2615184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83F"/>
                </a:solidFill>
                <a:latin typeface="Aptos"/>
              </a:rPr>
              <a:t>Wstępnie określone warianty: referencja × pasmo × okno.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1392" y="2542032"/>
            <a:ext cx="288950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2633472"/>
            <a:ext cx="2615184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Raport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926080"/>
            <a:ext cx="2615184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83F"/>
                </a:solidFill>
                <a:latin typeface="Aptos"/>
              </a:rPr>
              <a:t>Pełny rozkład efektów, nie jedynie wynik nominalny.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3685032"/>
            <a:ext cx="288950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3776472"/>
            <a:ext cx="2615184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Uwaga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4069080"/>
            <a:ext cx="2615184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0283F"/>
                </a:solidFill>
                <a:latin typeface="Aptos"/>
              </a:rPr>
              <a:t>Dodatkowe porównania nie tworzą niezależnych replikacji.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KOD 01 ·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Reprodukowalny import: S001, run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15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80744"/>
            <a:ext cx="7680960" cy="4334256"/>
          </a:xfrm>
          <a:prstGeom prst="roundRect">
            <a:avLst>
              <a:gd name="adj" fmla="val 10000"/>
            </a:avLst>
          </a:prstGeom>
          <a:solidFill>
            <a:srgbClr val="07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63624"/>
            <a:ext cx="7315200" cy="3968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40" b="0">
                <a:solidFill>
                  <a:srgbClr val="FFFFFF"/>
                </a:solidFill>
                <a:latin typeface="DejaVu Sans Mono"/>
              </a:rPr>
              <a:t>import mne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40" b="0">
                <a:solidFill>
                  <a:srgbClr val="FFFFFF"/>
                </a:solidFill>
                <a:latin typeface="DejaVu Sans Mono"/>
              </a:rPr>
              <a:t>from mne.datasets import eegbci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40" b="0">
                <a:solidFill>
                  <a:srgbClr val="FFFFFF"/>
                </a:solidFill>
                <a:latin typeface="DejaVu Sans Mono"/>
              </a:rPr>
              <a:t>paths = eegbci.load_data(1, [1, 2],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40" b="0">
                <a:solidFill>
                  <a:srgbClr val="FFFFFF"/>
                </a:solidFill>
                <a:latin typeface="DejaVu Sans Mono"/>
              </a:rPr>
              <a:t>    path="data/external/eegbci", update_path=False)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40" b="0">
                <a:solidFill>
                  <a:srgbClr val="FFFFFF"/>
                </a:solidFill>
                <a:latin typeface="DejaVu Sans Mono"/>
              </a:rPr>
              <a:t>eo = mne.io.read_raw_edf(paths[0], preload=True)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40" b="0">
                <a:solidFill>
                  <a:srgbClr val="FFFFFF"/>
                </a:solidFill>
                <a:latin typeface="DejaVu Sans Mono"/>
              </a:rPr>
              <a:t>ec = mne.io.read_raw_edf(paths[1], preload=True)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40" b="0">
                <a:solidFill>
                  <a:srgbClr val="FFFFFF"/>
                </a:solidFill>
                <a:latin typeface="DejaVu Sans Mono"/>
              </a:rPr>
              <a:t>eegbci.standardize(eo)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40" b="0">
                <a:solidFill>
                  <a:srgbClr val="FFFFFF"/>
                </a:solidFill>
                <a:latin typeface="DejaVu Sans Mono"/>
              </a:rPr>
              <a:t>eegbci.standardize(ec)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40" b="0">
                <a:solidFill>
                  <a:srgbClr val="FFFFFF"/>
                </a:solidFill>
                <a:latin typeface="DejaVu Sans Mono"/>
              </a:rPr>
              <a:t>assert eo.info["sfreq"] == ec.info["sfreq"]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94192" y="1399032"/>
            <a:ext cx="332841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1490472"/>
            <a:ext cx="3054096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Identyfikacja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1783080"/>
            <a:ext cx="3054096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0283F"/>
                </a:solidFill>
                <a:latin typeface="Aptos"/>
              </a:rPr>
              <a:t>R01 = EO, R02 = EC, EDF+; nie mieszaj z runami MI.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2542032"/>
            <a:ext cx="332841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2633472"/>
            <a:ext cx="3054096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Kontrola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926080"/>
            <a:ext cx="3054096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0283F"/>
                </a:solidFill>
                <a:latin typeface="Aptos"/>
              </a:rPr>
              <a:t>SHA-256 pliku, fs, kanały, czas, anotacje, referencja.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3685032"/>
            <a:ext cx="332841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3776472"/>
            <a:ext cx="3054096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4069080"/>
            <a:ext cx="3054096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0283F"/>
                </a:solidFill>
                <a:latin typeface="Aptos"/>
              </a:rPr>
              <a:t>Po pobraniu EDF kod analizuje dane publiczne; tu nie udajemy uzyskanych wyników.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POMIAR MODELOWY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Czas i amplituda: sygnał widoczny przed filtrowaniem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16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81928"/>
            <a:ext cx="10881360" cy="20116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7284"/>
                </a:solidFill>
                <a:latin typeface="Aptos"/>
              </a:rPr>
              <a:t>Wykres modelowy Oz (EO/EC) – przykład wyglądu surowych próbek; SYNTETYCZNY.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87968" y="6236208"/>
            <a:ext cx="2834640" cy="228600"/>
          </a:xfrm>
          <a:prstGeom prst="roundRect">
            <a:avLst>
              <a:gd name="adj" fmla="val 1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6254496"/>
            <a:ext cx="2724912" cy="17373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B4F55"/>
                </a:solidFill>
                <a:latin typeface="Aptos"/>
              </a:rPr>
              <a:t>SYMULACJA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1362456"/>
            <a:ext cx="7799831" cy="45354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_waveform_EO_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598147"/>
            <a:ext cx="7799831" cy="40640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49056" y="1380744"/>
            <a:ext cx="325526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6216" y="1472184"/>
            <a:ext cx="2980944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Pomiary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6" y="1764792"/>
            <a:ext cx="2980944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0283F"/>
                </a:solidFill>
                <a:latin typeface="Aptos"/>
              </a:rPr>
              <a:t>Zamień ilustrację na realny EDF albo zweryfikowany zapis własny.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49056" y="2523744"/>
            <a:ext cx="325526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86216" y="2615184"/>
            <a:ext cx="2980944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Oś 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86216" y="2907791"/>
            <a:ext cx="2980944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0283F"/>
                </a:solidFill>
                <a:latin typeface="Aptos"/>
              </a:rPr>
              <a:t>µV z jawnej konwersji jednostek; zachowaj znany gain.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49056" y="3666744"/>
            <a:ext cx="325526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86216" y="3758183"/>
            <a:ext cx="2980944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Osie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4050791"/>
            <a:ext cx="2980944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0283F"/>
                </a:solidFill>
                <a:latin typeface="Aptos"/>
              </a:rPr>
              <a:t>Wyświetl tę samą skalę dla obu warunków; nie ukrywaj artefaktów.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KOD 02 · QC I PSD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Parametry trzeba zapisać obok wykresu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17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89888"/>
            <a:ext cx="7872983" cy="4315968"/>
          </a:xfrm>
          <a:prstGeom prst="roundRect">
            <a:avLst>
              <a:gd name="adj" fmla="val 10000"/>
            </a:avLst>
          </a:prstGeom>
          <a:solidFill>
            <a:srgbClr val="07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7507223" cy="3950207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DejaVu Sans Mono"/>
              </a:rPr>
              <a:t>from scipy.signal import welch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DejaVu Sans Mono"/>
              </a:rPr>
              <a:t>import numpy as np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DejaVu Sans Mono"/>
              </a:rPr>
              <a:t>raw = ec.copy().pick(["Oz"])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DejaVu Sans Mono"/>
              </a:rPr>
              <a:t>raw = raw.filter(1., 40., verbose=False)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DejaVu Sans Mono"/>
              </a:rPr>
              <a:t>x_uv = raw.get_data()[0] * 1e6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DejaVu Sans Mono"/>
              </a:rPr>
              <a:t>f, p = welch(x_uv, fs=raw.info["sfreq"],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DejaVu Sans Mono"/>
              </a:rPr>
              <a:t>    nperseg=512, noverlap=256)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DejaVu Sans Mono"/>
              </a:rPr>
              <a:t>alpha = (f &gt;= 8) &amp; (f &lt;= 13)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DejaVu Sans Mono"/>
              </a:rPr>
              <a:t>power_uv2 = np.trapezoid(p[alpha], f[alpha])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22208" y="1399032"/>
            <a:ext cx="320954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9368" y="1490472"/>
            <a:ext cx="2935224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Jednostki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8" y="1783080"/>
            <a:ext cx="2935224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10283F"/>
                </a:solidFill>
                <a:latin typeface="Aptos"/>
              </a:rPr>
              <a:t>Welch dla x w µV daje µV²/Hz; integracja daje µV².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22208" y="2542032"/>
            <a:ext cx="320954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8" y="2633472"/>
            <a:ext cx="2935224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QC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2926080"/>
            <a:ext cx="2935224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10283F"/>
                </a:solidFill>
                <a:latin typeface="Aptos"/>
              </a:rPr>
              <a:t>Przed PSD raportuj BAD segments i efektywny czas nagrania.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22208" y="3685032"/>
            <a:ext cx="3209544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9368" y="3776472"/>
            <a:ext cx="2935224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Brak automatu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4069080"/>
            <a:ext cx="2935224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10283F"/>
                </a:solidFill>
                <a:latin typeface="Aptos"/>
              </a:rPr>
              <a:t>Dla przykładu nie uznajemy sygnału za wolny od EOG/EMG.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INFERENCJA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Efekt ≠ istotność: pseudoreplikacja okien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18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99032"/>
            <a:ext cx="5449824" cy="3611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508760"/>
            <a:ext cx="5138928" cy="41148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1F32"/>
                </a:solidFill>
                <a:latin typeface="Aptos"/>
              </a:rPr>
              <a:t>Efekt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29384"/>
            <a:ext cx="5129784" cy="2999232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Δα = 10 log10(Pα,EC / Pα,EO) [dB]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Kanały i kolejne okna PSD są zwykle skorelowane. Nie wolno traktować ich jako niezależnych uczestników.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9904" y="1399032"/>
            <a:ext cx="5623560" cy="3611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508760"/>
            <a:ext cx="5312664" cy="41148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1F32"/>
                </a:solidFill>
                <a:latin typeface="Aptos"/>
              </a:rPr>
              <a:t>Hierarchia niepewności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929384"/>
            <a:ext cx="5303520" cy="2999232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Wewnątrz sesji: stabilność w blokach czasu.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Między osobami: pary EO/EC na poziomie uczestnika.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0283F"/>
                </a:solidFill>
                <a:latin typeface="Aptos"/>
              </a:rPr>
              <a:t>Bez randomizacji: ostrożność względem kolejności.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5431536"/>
            <a:ext cx="11274552" cy="301752"/>
          </a:xfrm>
          <a:prstGeom prst="roundRect">
            <a:avLst>
              <a:gd name="adj" fmla="val 1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477256"/>
            <a:ext cx="11018520" cy="21945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BB4F55"/>
                </a:solidFill>
                <a:latin typeface="Aptos"/>
              </a:rPr>
              <a:t>Nie raportuj p-value dla 64 kanałów jednej osoby jako 64 niezależnych replikacji.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KOD 03 · BIDS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Eksportuj dane źródłowe, analizę zapisz jako derivative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19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89888"/>
            <a:ext cx="7781544" cy="4315968"/>
          </a:xfrm>
          <a:prstGeom prst="roundRect">
            <a:avLst>
              <a:gd name="adj" fmla="val 10000"/>
            </a:avLst>
          </a:prstGeom>
          <a:solidFill>
            <a:srgbClr val="071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7415783" cy="3950207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0">
                <a:solidFill>
                  <a:srgbClr val="FFFFFF"/>
                </a:solidFill>
                <a:latin typeface="DejaVu Sans Mono"/>
              </a:rPr>
              <a:t>from mne_bids import BIDSPath, write_raw_bids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0">
                <a:solidFill>
                  <a:srgbClr val="FFFFFF"/>
                </a:solidFill>
                <a:latin typeface="DejaVu Sans Mono"/>
              </a:rPr>
              <a:t>raw = mne.io.read_raw_edf(paths[0],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0">
                <a:solidFill>
                  <a:srgbClr val="FFFFFF"/>
                </a:solidFill>
                <a:latin typeface="DejaVu Sans Mono"/>
              </a:rPr>
              <a:t>                          preload=False)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0">
                <a:solidFill>
                  <a:srgbClr val="FFFFFF"/>
                </a:solidFill>
                <a:latin typeface="DejaVu Sans Mono"/>
              </a:rPr>
              <a:t>eegbci.standardize(raw)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0">
                <a:solidFill>
                  <a:srgbClr val="FFFFFF"/>
                </a:solidFill>
                <a:latin typeface="DejaVu Sans Mono"/>
              </a:rPr>
              <a:t>bids = BIDSPath(subject="001", task="eyesopen",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0">
                <a:solidFill>
                  <a:srgbClr val="FFFFFF"/>
                </a:solidFill>
                <a:latin typeface="DejaVu Sans Mono"/>
              </a:rPr>
              <a:t>    datatype="eeg", root="data/bids/ds-example")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0">
                <a:solidFill>
                  <a:srgbClr val="FFFFFF"/>
                </a:solidFill>
                <a:latin typeface="DejaVu Sans Mono"/>
              </a:rPr>
              <a:t>write_raw_bids(raw, bids, format="BrainVision",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0">
                <a:solidFill>
                  <a:srgbClr val="FFFFFF"/>
                </a:solidFill>
                <a:latin typeface="DejaVu Sans Mono"/>
              </a:rPr>
              <a:t>               overwrite=False)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30" b="0">
                <a:solidFill>
                  <a:srgbClr val="FFFFFF"/>
                </a:solidFill>
                <a:latin typeface="DejaVu Sans Mono"/>
              </a:rPr>
              <a:t># Osobno: BIDS Validator + kontrola sidecar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85632" y="1380744"/>
            <a:ext cx="323697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22792" y="1472184"/>
            <a:ext cx="2962656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Zasada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1764792"/>
            <a:ext cx="2962656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0283F"/>
                </a:solidFill>
                <a:latin typeface="Aptos"/>
              </a:rPr>
              <a:t>Nie zapisuj przefiltrowanego sygnału jako oryginalnego BIDS raw.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85632" y="2523744"/>
            <a:ext cx="323697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2615184"/>
            <a:ext cx="2962656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Pozycje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2907791"/>
            <a:ext cx="2962656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0283F"/>
                </a:solidFill>
                <a:latin typeface="Aptos"/>
              </a:rPr>
              <a:t>Template 10–20 ≠ rzeczywisty pomiar 3D elektrod.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3666744"/>
            <a:ext cx="3236976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22792" y="3758183"/>
            <a:ext cx="2962656" cy="27432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9BB0"/>
                </a:solidFill>
                <a:latin typeface="Aptos"/>
              </a:rPr>
              <a:t>Ślad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4050791"/>
            <a:ext cx="2962656" cy="539496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0283F"/>
                </a:solidFill>
                <a:latin typeface="Aptos"/>
              </a:rPr>
              <a:t>Pochodne: GeneratedBy, wersja kodu i link do źródłowego datasetu.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REJESTRACJA WŁASNA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Bramki wejścia dla własnego EEG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20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353312"/>
            <a:ext cx="1126540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463040"/>
            <a:ext cx="548640" cy="34747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9BB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456" y="1453896"/>
            <a:ext cx="2880360" cy="46634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1F32"/>
                </a:solidFill>
                <a:latin typeface="Aptos"/>
              </a:rPr>
              <a:t>Transport i zegar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1453896"/>
            <a:ext cx="7159752" cy="49377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Zaniki próbek, ciągłość, dryft i znaczniki źródłowe.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" y="2221991"/>
            <a:ext cx="1126540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331720"/>
            <a:ext cx="548640" cy="34747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9BB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322575"/>
            <a:ext cx="2880360" cy="46634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1F32"/>
                </a:solidFill>
                <a:latin typeface="Aptos"/>
              </a:rPr>
              <a:t>Kalibracja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322575"/>
            <a:ext cx="7159752" cy="49377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Gain, µV, referencja, nazwy kanałów, saturacja.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" y="3090672"/>
            <a:ext cx="1126540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200400"/>
            <a:ext cx="548640" cy="34747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9BB0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456" y="3191256"/>
            <a:ext cx="2880360" cy="46634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1F32"/>
                </a:solidFill>
                <a:latin typeface="Aptos"/>
              </a:rPr>
              <a:t>Eksperyment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3191256"/>
            <a:ext cx="7159752" cy="49377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Markery EO/EC, protokół i kolejność, czas stabilizacji.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" y="3959352"/>
            <a:ext cx="1126540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069080"/>
            <a:ext cx="548640" cy="34747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9BB0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2456" y="4059936"/>
            <a:ext cx="2880360" cy="46634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1F32"/>
                </a:solidFill>
                <a:latin typeface="Aptos"/>
              </a:rPr>
              <a:t>Kontrola fizjologiczna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4059936"/>
            <a:ext cx="7159752" cy="49377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EOG/EMG, szum, oporność, stabilność sygnału.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" y="4828031"/>
            <a:ext cx="11265408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4937759"/>
            <a:ext cx="548640" cy="34747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9BB0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2456" y="4928616"/>
            <a:ext cx="2880360" cy="46634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71F32"/>
                </a:solidFill>
                <a:latin typeface="Aptos"/>
              </a:rPr>
              <a:t>Integralność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928616"/>
            <a:ext cx="7159752" cy="49377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Oryginał, checksumy, pseudonimizacja, procedura eksportu.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" y="5815584"/>
            <a:ext cx="11274552" cy="301752"/>
          </a:xfrm>
          <a:prstGeom prst="roundRect">
            <a:avLst>
              <a:gd name="adj" fmla="val 1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861304"/>
            <a:ext cx="11018520" cy="21945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BB4F55"/>
                </a:solidFill>
                <a:latin typeface="Aptos"/>
              </a:rPr>
              <a:t>Brak zaliczenia bramki → użyj danych PhysioNet zamiast przypisywać symulacji status pomiaru.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SCENARIUSZ PREZENTACJI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Demonstracja: jedna rejestracja, kompletne pochodzenie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21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" y="1417320"/>
            <a:ext cx="1127455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27048"/>
            <a:ext cx="3867912" cy="47548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9BB0"/>
                </a:solidFill>
                <a:latin typeface="Aptos"/>
              </a:rPr>
              <a:t>01 · Otwarcie EDF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527048"/>
            <a:ext cx="6784848" cy="47548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Kanały, sampling, adnotacje, SHA-256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" y="2286000"/>
            <a:ext cx="1127455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95728"/>
            <a:ext cx="3867912" cy="47548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9BB0"/>
                </a:solidFill>
                <a:latin typeface="Aptos"/>
              </a:rPr>
              <a:t>02 · QC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395728"/>
            <a:ext cx="6784848" cy="47548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Czas + amplituda + epizody artefaktów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" y="3154680"/>
            <a:ext cx="1127455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64408"/>
            <a:ext cx="3867912" cy="47548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9BB0"/>
                </a:solidFill>
                <a:latin typeface="Aptos"/>
              </a:rPr>
              <a:t>03 · Spektrum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264408"/>
            <a:ext cx="6784848" cy="47548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Welch, alfa, aperiodic background, jednostki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" y="4023359"/>
            <a:ext cx="1127455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33087"/>
            <a:ext cx="3867912" cy="47548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9BB0"/>
                </a:solidFill>
                <a:latin typeface="Aptos"/>
              </a:rPr>
              <a:t>04 · Stabilność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133087"/>
            <a:ext cx="6784848" cy="47548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Zmiana referencji/okna/pasma i wynik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" y="4892040"/>
            <a:ext cx="11274552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01768"/>
            <a:ext cx="3867912" cy="47548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9BB0"/>
                </a:solidFill>
                <a:latin typeface="Aptos"/>
              </a:rPr>
              <a:t>05 · Reprodukowalność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5001768"/>
            <a:ext cx="6784848" cy="47548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283F"/>
                </a:solidFill>
                <a:latin typeface="Aptos"/>
              </a:rPr>
              <a:t>BIDS, sidecar, kod, manifest, BIDS Validator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" y="5833872"/>
            <a:ext cx="11274552" cy="301752"/>
          </a:xfrm>
          <a:prstGeom prst="roundRect">
            <a:avLst>
              <a:gd name="adj" fmla="val 10000"/>
            </a:avLst>
          </a:prstGeom>
          <a:solidFill>
            <a:srgbClr val="DF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879592"/>
            <a:ext cx="11018520" cy="219456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071F32"/>
                </a:solidFill>
                <a:latin typeface="Aptos"/>
              </a:rPr>
              <a:t>Oprogramowanie jest narzędziem demonstracji, nie tematem prezentacji.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9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192024"/>
            <a:ext cx="10058400" cy="192024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9BB0"/>
                </a:solidFill>
                <a:latin typeface="Aptos"/>
              </a:rPr>
              <a:t>WNIOSKI I BIBLIOGRAFIA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448056"/>
            <a:ext cx="11201400" cy="6217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50" b="1">
                <a:solidFill>
                  <a:srgbClr val="071F32"/>
                </a:solidFill>
                <a:latin typeface="Aptos"/>
              </a:rPr>
              <a:t>Wynik naukowy to estymata + kontrakt danych + test odporności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" y="1161288"/>
            <a:ext cx="11292840" cy="10972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6528816"/>
            <a:ext cx="11292840" cy="13716"/>
          </a:xfrm>
          <a:prstGeom prst="rect">
            <a:avLst/>
          </a:prstGeom>
          <a:solidFill>
            <a:srgbClr val="D6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6583680"/>
            <a:ext cx="7315200" cy="155448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PSYCHOFIZJOLOGIA I POMIAR EEG   ·   2026   ·   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5392"/>
            <a:ext cx="822960" cy="164592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D7284"/>
                </a:solidFill>
                <a:latin typeface="Aptos"/>
              </a:rPr>
              <a:t>22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62456"/>
            <a:ext cx="6986016" cy="44622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472184"/>
            <a:ext cx="6675120" cy="41148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1F32"/>
                </a:solidFill>
                <a:latin typeface="Aptos"/>
              </a:rPr>
              <a:t>Trzy weryfikowalne tezy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892807"/>
            <a:ext cx="6665976" cy="3849624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0283F"/>
                </a:solidFill>
                <a:latin typeface="Aptos"/>
              </a:rPr>
              <a:t>1. EEG-BIDS zapewnia interoperacyjny opis, lecz nie gwarantuje jakości fizjologicznej.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0283F"/>
                </a:solidFill>
                <a:latin typeface="Aptos"/>
              </a:rPr>
              <a:t>2. Referencja, filtry, artefakty i definicja pasma zmieniają estymowaną wielkość efektu.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0283F"/>
                </a:solidFill>
                <a:latin typeface="Aptos"/>
              </a:rPr>
              <a:t>3. Odtwarzalność wymaga danych źródłowych, kodu, parametrów i jawnych bramek QC.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6096" y="1362456"/>
            <a:ext cx="4096512" cy="44622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255">
            <a:solidFill>
              <a:srgbClr val="D6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81544" y="1472184"/>
            <a:ext cx="3785616" cy="411480"/>
          </a:xfrm>
          <a:prstGeom prst="rect">
            <a:avLst/>
          </a:prstGeom>
          <a:noFill/>
        </p:spPr>
        <p:txBody>
          <a:bodyPr wrap="square" lIns="9144" rIns="9144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71F32"/>
                </a:solidFill>
                <a:latin typeface="Aptos"/>
              </a:rPr>
              <a:t>Źródła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1892807"/>
            <a:ext cx="3776472" cy="3849624"/>
          </a:xfrm>
          <a:prstGeom prst="rect">
            <a:avLst/>
          </a:prstGeom>
          <a:noFill/>
        </p:spPr>
        <p:txBody>
          <a:bodyPr wrap="square" lIns="9144" rIns="914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0283F"/>
                </a:solidFill>
                <a:latin typeface="Aptos"/>
              </a:rPr>
              <a:t>Pernet et al. (2019), Scientific Data 6:103.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0283F"/>
                </a:solidFill>
                <a:latin typeface="Aptos"/>
              </a:rPr>
              <a:t>PhysioNet EEGMMIDB v1.0.0 (BCI2000).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0283F"/>
                </a:solidFill>
                <a:latin typeface="Aptos"/>
              </a:rPr>
              <a:t>MNE-Python: preprocessing i PSD.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0283F"/>
                </a:solidFill>
                <a:latin typeface="Aptos"/>
              </a:rPr>
              <a:t>MNE-BIDS: write_raw_bids / read_raw_bids.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0283F"/>
                </a:solidFill>
                <a:latin typeface="Aptos"/>
              </a:rPr>
              <a:t>Kod i wykresy: autorska symulacja, seed=20261028.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