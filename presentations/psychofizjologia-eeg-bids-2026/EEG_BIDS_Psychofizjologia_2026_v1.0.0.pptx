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Wprowadzenie: trzy obszary prezentacji. Cały live-demo bazuje na danych syntetycznych; nie jest to kliniczna ani empiryczna demonstracja pracy urządzenia.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Czy drugi badacz może odzyskać i przetworzyć te same dane? To odróżnia ilustrację od naukowo odtwarzalnego wyniku.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Zarejestrowany EEG jest napięciem względem przyjętej referencji, a nie bezpośrednim pomiarem pojedynczego neuronu. Zwróć uwagę na EOG/EMG.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Brain Imaging Data Structure jest konwencją organizacji danych i metadanych. Zgodność struktury nie świadczy o prawdziwości i jakości pomiaru. Źródło: BIDS EEG specification.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 każdy plik z przykładu jest bezwzględnie wymagany dla każdej konfiguracji EEG. Zmienna task opisuje zadanie, a channel.tsv ma dane o kanałach. BrainVision wymaga trzech plików.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Pomyłka w jednostkach mikrovoltów i voltów zmienia amplitudę 10^6 razy, a moc 10^12. Metadane są częścią znaczenia sygnału.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Wyjaśnij, że różne parametry okna Welcha, filtrowania czy odrzucania artefaktów zmieniają wynik. Dobre praktyki dokumentują te decyzje.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Wykres wygenerowano deterministycznie na potrzeby prezentacji. Dane nie pochodzą z EEG Neurolyze ani PhysioNet. Demonstracja nie dowodzi efektu biologicznego.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PSD to gęstość mocy w jednostkach µV²/Hz. Metoda Welcha zależy od długości okna, nakładania i filtru. Pokaz jest symulacją o celowo zwiększonej składowej 10 Hz w 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Przykładowa API analizy gotowego, poprawnie przygotowanego zbioru EEG-BIDS. MNE może odczytać BIDS i obliczyć PSD. To nie jest demonstracja działania na rzeczywistym pliku.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main repo są działające komendy i mock tests. Walidacja sprzętowa nadal jest otwarta. Nie wolno utożsamiać dostępności ścieżki wywołania ze sprawdzonym pomiarem.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Instrukcje PowerShell i plan offline umieszczono w pliku demo.md w katalogu prezentacji. Przed uruchomieniem sprawdź .venv i optional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Zakończ tę część rozróżnieniem: BIDS struktura, MNE pipeline, jakość pomiaru jako osobne wymaganie.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Przypomnij ograniczenie: program pokazany jest na modelu, a nie na pomiarach ludzkich. Zakończ pytaniami.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C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0C0BF"/>
          </a:solidFill>
          <a:ln w="8255">
            <a:solidFill>
              <a:srgbClr val="20C0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3063240"/>
            <a:ext cx="41148" cy="162581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6076188" y="3225821"/>
            <a:ext cx="41148" cy="104837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117336" y="3330658"/>
            <a:ext cx="41148" cy="25859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158484" y="3356516"/>
            <a:ext cx="41148" cy="-28284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199632" y="3328232"/>
            <a:ext cx="41148" cy="-35236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240780" y="3292997"/>
            <a:ext cx="41148" cy="-10617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281928" y="3282379"/>
            <a:ext cx="41148" cy="7265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6323076" y="3289644"/>
            <a:ext cx="41148" cy="-10051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364224" y="3279594"/>
            <a:ext cx="41148" cy="-57012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405372" y="3222582"/>
            <a:ext cx="41148" cy="-9725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446520" y="3125328"/>
            <a:ext cx="41148" cy="-91868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487668" y="3033461"/>
            <a:ext cx="41148" cy="-30877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6528816" y="3002583"/>
            <a:ext cx="41148" cy="56631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569964" y="3059215"/>
            <a:ext cx="41148" cy="121922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6611112" y="3181137"/>
            <a:ext cx="41148" cy="13106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652260" y="3312200"/>
            <a:ext cx="41148" cy="8830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693408" y="3400503"/>
            <a:ext cx="41148" cy="3077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6734556" y="3431277"/>
            <a:ext cx="41148" cy="-1088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6775704" y="3430189"/>
            <a:ext cx="41148" cy="5620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6816852" y="3435809"/>
            <a:ext cx="41148" cy="27895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6858000" y="3463704"/>
            <a:ext cx="41148" cy="27179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6899148" y="3490884"/>
            <a:ext cx="41148" cy="-17728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6940296" y="3473155"/>
            <a:ext cx="41148" cy="-91089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6981444" y="3382066"/>
            <a:ext cx="41148" cy="-149617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7022592" y="3232449"/>
            <a:ext cx="41148" cy="-154022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7063740" y="3078427"/>
            <a:ext cx="41148" cy="-98629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7104888" y="2979797"/>
            <a:ext cx="41148" cy="-16316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7146036" y="2963481"/>
            <a:ext cx="41148" cy="45145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7187184" y="3008626"/>
            <a:ext cx="41148" cy="5733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7228332" y="3065959"/>
            <a:ext cx="41148" cy="29980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7269480" y="3095940"/>
            <a:ext cx="41148" cy="309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7310628" y="3096249"/>
            <a:ext cx="41148" cy="1629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7351776" y="3097878"/>
            <a:ext cx="41148" cy="35884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7392924" y="3133761"/>
            <a:ext cx="41148" cy="71617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7434072" y="3205379"/>
            <a:ext cx="41148" cy="69025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7475220" y="3274403"/>
            <a:ext cx="41148" cy="12608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7516368" y="3287011"/>
            <a:ext cx="41148" cy="-7408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7557516" y="3212928"/>
            <a:ext cx="41148" cy="-143451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7598664" y="3069478"/>
            <a:ext cx="41148" cy="-157514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7639812" y="2911963"/>
            <a:ext cx="41148" cy="-11471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7680960" y="2797250"/>
            <a:ext cx="41148" cy="-49549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7722108" y="2747701"/>
            <a:ext cx="41148" cy="-5596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7763256" y="2742105"/>
            <a:ext cx="41148" cy="-2771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7804404" y="2739333"/>
            <a:ext cx="41148" cy="-24016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7845552" y="2715318"/>
            <a:ext cx="41148" cy="-31340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7886700" y="2683977"/>
            <a:ext cx="41148" cy="160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7927848" y="2685580"/>
            <a:ext cx="41148" cy="66100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7968996" y="2751681"/>
            <a:ext cx="41148" cy="12267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8010144" y="2874354"/>
            <a:ext cx="41148" cy="130166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8051292" y="3004520"/>
            <a:ext cx="41148" cy="77364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8092440" y="3081885"/>
            <a:ext cx="41148" cy="-7250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8133588" y="3074634"/>
            <a:ext cx="41148" cy="-75316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8174736" y="2999318"/>
            <a:ext cx="41148" cy="-93026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8215884" y="2906292"/>
            <a:ext cx="41148" cy="-64037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8257032" y="2842255"/>
            <a:ext cx="41148" cy="-23665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8298180" y="2818590"/>
            <a:ext cx="41148" cy="-9324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8339328" y="2809266"/>
            <a:ext cx="41148" cy="-30415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8380476" y="2778851"/>
            <a:ext cx="41148" cy="-61096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8421624" y="2717755"/>
            <a:ext cx="41148" cy="-61546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8462772" y="2656210"/>
            <a:ext cx="41148" cy="-11065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8503920" y="2645144"/>
            <a:ext cx="41148" cy="72907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8545068" y="2718051"/>
            <a:ext cx="41148" cy="145037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8586216" y="2863088"/>
            <a:ext cx="41148" cy="164188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8627364" y="3027276"/>
            <a:ext cx="41148" cy="123039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8668512" y="3150315"/>
            <a:ext cx="41148" cy="52676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8709660" y="3202991"/>
            <a:ext cx="41148" cy="-1207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8750808" y="3201784"/>
            <a:ext cx="41148" cy="-1216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8791956" y="3189621"/>
            <a:ext cx="41148" cy="903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8833104" y="3198654"/>
            <a:ext cx="41148" cy="25778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8874252" y="3224432"/>
            <a:ext cx="41148" cy="7126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8915400" y="3231558"/>
            <a:ext cx="41148" cy="-45474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8956548" y="3186085"/>
            <a:ext cx="41148" cy="-9728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8997696" y="3088802"/>
            <a:ext cx="41148" cy="-10623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9038844" y="2982569"/>
            <a:ext cx="41148" cy="-5582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9079992" y="2926745"/>
            <a:ext cx="41148" cy="30521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78" name="Shape 76"/>
          <p:cNvSpPr/>
          <p:nvPr/>
        </p:nvSpPr>
        <p:spPr>
          <a:xfrm>
            <a:off x="9121140" y="2957266"/>
            <a:ext cx="41148" cy="104977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79" name="Shape 77"/>
          <p:cNvSpPr/>
          <p:nvPr/>
        </p:nvSpPr>
        <p:spPr>
          <a:xfrm>
            <a:off x="9162288" y="3062244"/>
            <a:ext cx="41148" cy="129151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80" name="Shape 78"/>
          <p:cNvSpPr/>
          <p:nvPr/>
        </p:nvSpPr>
        <p:spPr>
          <a:xfrm>
            <a:off x="9203436" y="3191395"/>
            <a:ext cx="41148" cy="10056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81" name="Shape 79"/>
          <p:cNvSpPr/>
          <p:nvPr/>
        </p:nvSpPr>
        <p:spPr>
          <a:xfrm>
            <a:off x="9244584" y="3291958"/>
            <a:ext cx="41148" cy="5183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82" name="Shape 80"/>
          <p:cNvSpPr/>
          <p:nvPr/>
        </p:nvSpPr>
        <p:spPr>
          <a:xfrm>
            <a:off x="9285732" y="3343791"/>
            <a:ext cx="41148" cy="23632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83" name="Shape 81"/>
          <p:cNvSpPr/>
          <p:nvPr/>
        </p:nvSpPr>
        <p:spPr>
          <a:xfrm>
            <a:off x="9326880" y="3367423"/>
            <a:ext cx="41148" cy="32587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84" name="Shape 82"/>
          <p:cNvSpPr/>
          <p:nvPr/>
        </p:nvSpPr>
        <p:spPr>
          <a:xfrm>
            <a:off x="9368028" y="3400010"/>
            <a:ext cx="41148" cy="5903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9409176" y="3459042"/>
            <a:ext cx="41148" cy="63999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9450324" y="3523041"/>
            <a:ext cx="41148" cy="22008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9491472" y="3545049"/>
            <a:ext cx="41148" cy="-5606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9532620" y="3488986"/>
            <a:ext cx="41148" cy="-128220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9573768" y="3360766"/>
            <a:ext cx="41148" cy="-151147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90" name="Shape 88"/>
          <p:cNvSpPr/>
          <p:nvPr/>
        </p:nvSpPr>
        <p:spPr>
          <a:xfrm>
            <a:off x="9614916" y="3209619"/>
            <a:ext cx="41148" cy="-111947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91" name="Shape 89"/>
          <p:cNvSpPr/>
          <p:nvPr/>
        </p:nvSpPr>
        <p:spPr>
          <a:xfrm>
            <a:off x="9656064" y="3097672"/>
            <a:ext cx="41148" cy="-37587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92" name="Shape 90"/>
          <p:cNvSpPr/>
          <p:nvPr/>
        </p:nvSpPr>
        <p:spPr>
          <a:xfrm>
            <a:off x="9697212" y="3060085"/>
            <a:ext cx="41148" cy="25176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93" name="Shape 91"/>
          <p:cNvSpPr/>
          <p:nvPr/>
        </p:nvSpPr>
        <p:spPr>
          <a:xfrm>
            <a:off x="9738360" y="3085261"/>
            <a:ext cx="41148" cy="43996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94" name="Shape 92"/>
          <p:cNvSpPr/>
          <p:nvPr/>
        </p:nvSpPr>
        <p:spPr>
          <a:xfrm>
            <a:off x="9779508" y="3129258"/>
            <a:ext cx="41148" cy="23157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95" name="Shape 93"/>
          <p:cNvSpPr/>
          <p:nvPr/>
        </p:nvSpPr>
        <p:spPr>
          <a:xfrm>
            <a:off x="9820656" y="3152415"/>
            <a:ext cx="41148" cy="-2920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96" name="Shape 94"/>
          <p:cNvSpPr/>
          <p:nvPr/>
        </p:nvSpPr>
        <p:spPr>
          <a:xfrm>
            <a:off x="9861804" y="3149495"/>
            <a:ext cx="41148" cy="639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97" name="Shape 95"/>
          <p:cNvSpPr/>
          <p:nvPr/>
        </p:nvSpPr>
        <p:spPr>
          <a:xfrm>
            <a:off x="9902952" y="3150134"/>
            <a:ext cx="41148" cy="3971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98" name="Shape 96"/>
          <p:cNvSpPr/>
          <p:nvPr/>
        </p:nvSpPr>
        <p:spPr>
          <a:xfrm>
            <a:off x="9944100" y="3189847"/>
            <a:ext cx="41148" cy="85107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99" name="Shape 97"/>
          <p:cNvSpPr/>
          <p:nvPr/>
        </p:nvSpPr>
        <p:spPr>
          <a:xfrm>
            <a:off x="9985248" y="3274954"/>
            <a:ext cx="41148" cy="94799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00" name="Shape 98"/>
          <p:cNvSpPr/>
          <p:nvPr/>
        </p:nvSpPr>
        <p:spPr>
          <a:xfrm>
            <a:off x="10026396" y="3369753"/>
            <a:ext cx="41148" cy="47365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01" name="Shape 99"/>
          <p:cNvSpPr/>
          <p:nvPr/>
        </p:nvSpPr>
        <p:spPr>
          <a:xfrm>
            <a:off x="10067544" y="3417117"/>
            <a:ext cx="41148" cy="-39390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02" name="Shape 100"/>
          <p:cNvSpPr/>
          <p:nvPr/>
        </p:nvSpPr>
        <p:spPr>
          <a:xfrm>
            <a:off x="10108692" y="3377728"/>
            <a:ext cx="41148" cy="-119302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03" name="Shape 101"/>
          <p:cNvSpPr/>
          <p:nvPr/>
        </p:nvSpPr>
        <p:spPr>
          <a:xfrm>
            <a:off x="10149840" y="3258426"/>
            <a:ext cx="41148" cy="-150297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04" name="Shape 102"/>
          <p:cNvSpPr/>
          <p:nvPr/>
        </p:nvSpPr>
        <p:spPr>
          <a:xfrm>
            <a:off x="10190988" y="3108129"/>
            <a:ext cx="41148" cy="-123841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05" name="Shape 103"/>
          <p:cNvSpPr/>
          <p:nvPr/>
        </p:nvSpPr>
        <p:spPr>
          <a:xfrm>
            <a:off x="10232136" y="2984288"/>
            <a:ext cx="41148" cy="-69128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06" name="Shape 104"/>
          <p:cNvSpPr/>
          <p:nvPr/>
        </p:nvSpPr>
        <p:spPr>
          <a:xfrm>
            <a:off x="10273284" y="2915160"/>
            <a:ext cx="41148" cy="-29155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07" name="Shape 105"/>
          <p:cNvSpPr/>
          <p:nvPr/>
        </p:nvSpPr>
        <p:spPr>
          <a:xfrm>
            <a:off x="10314432" y="2886004"/>
            <a:ext cx="41148" cy="-27376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08" name="Shape 106"/>
          <p:cNvSpPr/>
          <p:nvPr/>
        </p:nvSpPr>
        <p:spPr>
          <a:xfrm>
            <a:off x="10355580" y="2858628"/>
            <a:ext cx="41148" cy="-50717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09" name="Shape 107"/>
          <p:cNvSpPr/>
          <p:nvPr/>
        </p:nvSpPr>
        <p:spPr>
          <a:xfrm>
            <a:off x="10396728" y="2807912"/>
            <a:ext cx="41148" cy="-61898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10" name="Shape 108"/>
          <p:cNvSpPr/>
          <p:nvPr/>
        </p:nvSpPr>
        <p:spPr>
          <a:xfrm>
            <a:off x="10437876" y="2746013"/>
            <a:ext cx="41148" cy="-31192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11" name="Shape 109"/>
          <p:cNvSpPr/>
          <p:nvPr/>
        </p:nvSpPr>
        <p:spPr>
          <a:xfrm>
            <a:off x="10479024" y="2714821"/>
            <a:ext cx="41148" cy="37387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12" name="Shape 110"/>
          <p:cNvSpPr/>
          <p:nvPr/>
        </p:nvSpPr>
        <p:spPr>
          <a:xfrm>
            <a:off x="10520172" y="2752208"/>
            <a:ext cx="41148" cy="10619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13" name="Shape 111"/>
          <p:cNvSpPr/>
          <p:nvPr/>
        </p:nvSpPr>
        <p:spPr>
          <a:xfrm>
            <a:off x="10561320" y="2858401"/>
            <a:ext cx="41148" cy="130751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14" name="Shape 112"/>
          <p:cNvSpPr/>
          <p:nvPr/>
        </p:nvSpPr>
        <p:spPr>
          <a:xfrm>
            <a:off x="10602468" y="2989152"/>
            <a:ext cx="41148" cy="9290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15" name="Shape 113"/>
          <p:cNvSpPr/>
          <p:nvPr/>
        </p:nvSpPr>
        <p:spPr>
          <a:xfrm>
            <a:off x="10643616" y="3082056"/>
            <a:ext cx="41148" cy="14884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16" name="Shape 114"/>
          <p:cNvSpPr/>
          <p:nvPr/>
        </p:nvSpPr>
        <p:spPr>
          <a:xfrm>
            <a:off x="10684764" y="3096940"/>
            <a:ext cx="41148" cy="-56561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17" name="Shape 115"/>
          <p:cNvSpPr/>
          <p:nvPr/>
        </p:nvSpPr>
        <p:spPr>
          <a:xfrm>
            <a:off x="10725912" y="3040379"/>
            <a:ext cx="41148" cy="-83949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18" name="Shape 116"/>
          <p:cNvSpPr/>
          <p:nvPr/>
        </p:nvSpPr>
        <p:spPr>
          <a:xfrm>
            <a:off x="10767060" y="2956430"/>
            <a:ext cx="41148" cy="-6500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19" name="Shape 117"/>
          <p:cNvSpPr/>
          <p:nvPr/>
        </p:nvSpPr>
        <p:spPr>
          <a:xfrm>
            <a:off x="10808208" y="2891427"/>
            <a:ext cx="41148" cy="-31204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20" name="Shape 118"/>
          <p:cNvSpPr/>
          <p:nvPr/>
        </p:nvSpPr>
        <p:spPr>
          <a:xfrm>
            <a:off x="10849356" y="2860223"/>
            <a:ext cx="41148" cy="-20585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21" name="Shape 119"/>
          <p:cNvSpPr/>
          <p:nvPr/>
        </p:nvSpPr>
        <p:spPr>
          <a:xfrm>
            <a:off x="10890504" y="2839637"/>
            <a:ext cx="41148" cy="-46225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22" name="Shape 120"/>
          <p:cNvSpPr/>
          <p:nvPr/>
        </p:nvSpPr>
        <p:spPr>
          <a:xfrm>
            <a:off x="10931652" y="2793413"/>
            <a:ext cx="41148" cy="-85134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23" name="Shape 121"/>
          <p:cNvSpPr/>
          <p:nvPr/>
        </p:nvSpPr>
        <p:spPr>
          <a:xfrm>
            <a:off x="10972800" y="2708279"/>
            <a:ext cx="41148" cy="-96277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24" name="Shape 122"/>
          <p:cNvSpPr/>
          <p:nvPr/>
        </p:nvSpPr>
        <p:spPr>
          <a:xfrm>
            <a:off x="11013948" y="2612002"/>
            <a:ext cx="41148" cy="-53758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25" name="Shape 123"/>
          <p:cNvSpPr/>
          <p:nvPr/>
        </p:nvSpPr>
        <p:spPr>
          <a:xfrm>
            <a:off x="11055096" y="2558243"/>
            <a:ext cx="41148" cy="30680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26" name="Shape 124"/>
          <p:cNvSpPr/>
          <p:nvPr/>
        </p:nvSpPr>
        <p:spPr>
          <a:xfrm>
            <a:off x="11096244" y="2588923"/>
            <a:ext cx="41148" cy="113634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27" name="Shape 125"/>
          <p:cNvSpPr/>
          <p:nvPr/>
        </p:nvSpPr>
        <p:spPr>
          <a:xfrm>
            <a:off x="11137392" y="2702557"/>
            <a:ext cx="41148" cy="150352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28" name="Shape 126"/>
          <p:cNvSpPr/>
          <p:nvPr/>
        </p:nvSpPr>
        <p:spPr>
          <a:xfrm>
            <a:off x="11178540" y="2852909"/>
            <a:ext cx="41148" cy="126469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29" name="Shape 127"/>
          <p:cNvSpPr/>
          <p:nvPr/>
        </p:nvSpPr>
        <p:spPr>
          <a:xfrm>
            <a:off x="11219688" y="2979379"/>
            <a:ext cx="41148" cy="67108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30" name="Shape 128"/>
          <p:cNvSpPr/>
          <p:nvPr/>
        </p:nvSpPr>
        <p:spPr>
          <a:xfrm>
            <a:off x="11260836" y="3046487"/>
            <a:ext cx="41148" cy="16612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31" name="Shape 129"/>
          <p:cNvSpPr/>
          <p:nvPr/>
        </p:nvSpPr>
        <p:spPr>
          <a:xfrm>
            <a:off x="11301984" y="3063099"/>
            <a:ext cx="41148" cy="4709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32" name="Shape 130"/>
          <p:cNvSpPr/>
          <p:nvPr/>
        </p:nvSpPr>
        <p:spPr>
          <a:xfrm>
            <a:off x="11343132" y="3067808"/>
            <a:ext cx="41148" cy="25184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33" name="Shape 131"/>
          <p:cNvSpPr/>
          <p:nvPr/>
        </p:nvSpPr>
        <p:spPr>
          <a:xfrm>
            <a:off x="11384280" y="3092993"/>
            <a:ext cx="41148" cy="43257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34" name="Shape 132"/>
          <p:cNvSpPr/>
          <p:nvPr/>
        </p:nvSpPr>
        <p:spPr>
          <a:xfrm>
            <a:off x="11425428" y="3136249"/>
            <a:ext cx="41148" cy="25578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35" name="Shape 133"/>
          <p:cNvSpPr/>
          <p:nvPr/>
        </p:nvSpPr>
        <p:spPr>
          <a:xfrm>
            <a:off x="11466576" y="3161828"/>
            <a:ext cx="41148" cy="-30835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36" name="Shape 134"/>
          <p:cNvSpPr/>
          <p:nvPr/>
        </p:nvSpPr>
        <p:spPr>
          <a:xfrm>
            <a:off x="11507724" y="3130993"/>
            <a:ext cx="41148" cy="-93579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37" name="Shape 135"/>
          <p:cNvSpPr/>
          <p:nvPr/>
        </p:nvSpPr>
        <p:spPr>
          <a:xfrm>
            <a:off x="11548872" y="3037414"/>
            <a:ext cx="41148" cy="-118059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38" name="Shape 136"/>
          <p:cNvSpPr/>
          <p:nvPr/>
        </p:nvSpPr>
        <p:spPr>
          <a:xfrm>
            <a:off x="11590020" y="2919355"/>
            <a:ext cx="41148" cy="-81282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39" name="Shape 137"/>
          <p:cNvSpPr/>
          <p:nvPr/>
        </p:nvSpPr>
        <p:spPr>
          <a:xfrm>
            <a:off x="11631168" y="2838072"/>
            <a:ext cx="41148" cy="-236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40" name="Shape 138"/>
          <p:cNvSpPr/>
          <p:nvPr/>
        </p:nvSpPr>
        <p:spPr>
          <a:xfrm>
            <a:off x="11672316" y="2837836"/>
            <a:ext cx="41148" cy="79432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41" name="Shape 139"/>
          <p:cNvSpPr/>
          <p:nvPr/>
        </p:nvSpPr>
        <p:spPr>
          <a:xfrm>
            <a:off x="11713464" y="2917268"/>
            <a:ext cx="41148" cy="115980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42" name="Shape 140"/>
          <p:cNvSpPr/>
          <p:nvPr/>
        </p:nvSpPr>
        <p:spPr>
          <a:xfrm>
            <a:off x="11754612" y="3033248"/>
            <a:ext cx="41148" cy="100650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43" name="Shape 141"/>
          <p:cNvSpPr/>
          <p:nvPr/>
        </p:nvSpPr>
        <p:spPr>
          <a:xfrm>
            <a:off x="11795760" y="3133898"/>
            <a:ext cx="41148" cy="61294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44" name="Shape 142"/>
          <p:cNvSpPr/>
          <p:nvPr/>
        </p:nvSpPr>
        <p:spPr>
          <a:xfrm>
            <a:off x="11836908" y="3195192"/>
            <a:ext cx="41148" cy="38244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45" name="Shape 143"/>
          <p:cNvSpPr/>
          <p:nvPr/>
        </p:nvSpPr>
        <p:spPr>
          <a:xfrm>
            <a:off x="11878056" y="3233436"/>
            <a:ext cx="41148" cy="51482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46" name="Shape 144"/>
          <p:cNvSpPr/>
          <p:nvPr/>
        </p:nvSpPr>
        <p:spPr>
          <a:xfrm>
            <a:off x="11919204" y="3284918"/>
            <a:ext cx="41148" cy="84733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47" name="Shape 145"/>
          <p:cNvSpPr/>
          <p:nvPr/>
        </p:nvSpPr>
        <p:spPr>
          <a:xfrm>
            <a:off x="11960352" y="3369651"/>
            <a:ext cx="41148" cy="98848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48" name="Shape 146"/>
          <p:cNvSpPr/>
          <p:nvPr/>
        </p:nvSpPr>
        <p:spPr>
          <a:xfrm>
            <a:off x="12001500" y="3468500"/>
            <a:ext cx="41148" cy="64010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49" name="Shape 147"/>
          <p:cNvSpPr/>
          <p:nvPr/>
        </p:nvSpPr>
        <p:spPr>
          <a:xfrm>
            <a:off x="12042648" y="3532510"/>
            <a:ext cx="41148" cy="-14427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50" name="Shape 148"/>
          <p:cNvSpPr/>
          <p:nvPr/>
        </p:nvSpPr>
        <p:spPr>
          <a:xfrm>
            <a:off x="12083796" y="3518082"/>
            <a:ext cx="41148" cy="-96862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51" name="Shape 149"/>
          <p:cNvSpPr/>
          <p:nvPr/>
        </p:nvSpPr>
        <p:spPr>
          <a:xfrm>
            <a:off x="12124944" y="3421220"/>
            <a:ext cx="41148" cy="-136930"/>
          </a:xfrm>
          <a:prstGeom prst="line">
            <a:avLst/>
          </a:prstGeom>
          <a:noFill/>
          <a:ln w="20320">
            <a:solidFill>
              <a:srgbClr val="1DA4B5"/>
            </a:solidFill>
            <a:prstDash val="solid"/>
            <a:headEnd type="none"/>
            <a:tailEnd type="none"/>
          </a:ln>
        </p:spPr>
      </p:sp>
      <p:sp>
        <p:nvSpPr>
          <p:cNvPr id="152" name="Shape 150"/>
          <p:cNvSpPr/>
          <p:nvPr/>
        </p:nvSpPr>
        <p:spPr>
          <a:xfrm>
            <a:off x="8275320" y="4114800"/>
            <a:ext cx="91440" cy="91440"/>
          </a:xfrm>
          <a:prstGeom prst="ellipse">
            <a:avLst/>
          </a:prstGeom>
          <a:solidFill>
            <a:srgbClr val="1E5B71"/>
          </a:solidFill>
          <a:ln w="12700">
            <a:solidFill>
              <a:srgbClr val="1E5B71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942832" y="4617720"/>
            <a:ext cx="91440" cy="91440"/>
          </a:xfrm>
          <a:prstGeom prst="ellipse">
            <a:avLst/>
          </a:prstGeom>
          <a:solidFill>
            <a:srgbClr val="1E5B71"/>
          </a:solidFill>
          <a:ln w="12700">
            <a:solidFill>
              <a:srgbClr val="1E5B71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610344" y="4114800"/>
            <a:ext cx="91440" cy="91440"/>
          </a:xfrm>
          <a:prstGeom prst="ellipse">
            <a:avLst/>
          </a:prstGeom>
          <a:solidFill>
            <a:srgbClr val="1E5B71"/>
          </a:solidFill>
          <a:ln w="12700">
            <a:solidFill>
              <a:srgbClr val="1E5B71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277856" y="4617720"/>
            <a:ext cx="91440" cy="91440"/>
          </a:xfrm>
          <a:prstGeom prst="ellipse">
            <a:avLst/>
          </a:prstGeom>
          <a:solidFill>
            <a:srgbClr val="1E5B71"/>
          </a:solidFill>
          <a:ln w="12700">
            <a:solidFill>
              <a:srgbClr val="1E5B71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713232" y="5486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110" kern="0" dirty="0">
                <a:solidFill>
                  <a:srgbClr val="6AE0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PSYCHOFIZJOLOGIA I POMIAR EEG</a:t>
            </a:r>
            <a:endParaRPr lang="en-US" sz="1300" dirty="0"/>
          </a:p>
        </p:txBody>
      </p:sp>
      <p:sp>
        <p:nvSpPr>
          <p:cNvPr id="157" name="Text 155"/>
          <p:cNvSpPr/>
          <p:nvPr/>
        </p:nvSpPr>
        <p:spPr>
          <a:xfrm>
            <a:off x="713232" y="1444752"/>
            <a:ext cx="1069848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 sygnału EEG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reprodukowalnych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wyników badań</a:t>
            </a:r>
            <a:endParaRPr lang="en-US" sz="3400" dirty="0"/>
          </a:p>
        </p:txBody>
      </p:sp>
      <p:sp>
        <p:nvSpPr>
          <p:cNvPr id="158" name="Text 156"/>
          <p:cNvSpPr/>
          <p:nvPr/>
        </p:nvSpPr>
        <p:spPr>
          <a:xfrm>
            <a:off x="731520" y="437083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9D5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EEG-BIDS   ·   analiza w Pythonie   ·   EEG Neurolyze</a:t>
            </a:r>
            <a:endParaRPr lang="en-US" sz="1700" dirty="0"/>
          </a:p>
        </p:txBody>
      </p:sp>
      <p:sp>
        <p:nvSpPr>
          <p:cNvPr id="159" name="Shape 157"/>
          <p:cNvSpPr/>
          <p:nvPr/>
        </p:nvSpPr>
        <p:spPr>
          <a:xfrm>
            <a:off x="722376" y="5166360"/>
            <a:ext cx="2935224" cy="0"/>
          </a:xfrm>
          <a:prstGeom prst="line">
            <a:avLst/>
          </a:prstGeom>
          <a:noFill/>
          <a:ln w="38100">
            <a:solidFill>
              <a:srgbClr val="20C0BF"/>
            </a:solidFill>
            <a:prstDash val="solid"/>
            <a:headEnd type="none"/>
            <a:tailEnd type="none"/>
          </a:ln>
        </p:spPr>
      </p:sp>
      <p:sp>
        <p:nvSpPr>
          <p:cNvPr id="160" name="Text 158"/>
          <p:cNvSpPr/>
          <p:nvPr/>
        </p:nvSpPr>
        <p:spPr>
          <a:xfrm>
            <a:off x="731520" y="54223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Mateusz Pomianek</a:t>
            </a:r>
            <a:endParaRPr lang="en-US" sz="1800" dirty="0"/>
          </a:p>
        </p:txBody>
      </p:sp>
      <p:sp>
        <p:nvSpPr>
          <p:cNvPr id="161" name="Text 159"/>
          <p:cNvSpPr/>
          <p:nvPr/>
        </p:nvSpPr>
        <p:spPr>
          <a:xfrm>
            <a:off x="731520" y="58521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8C6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Prezentacja zaliczeniowa · 2026 · wersja 1.0.0</a:t>
            </a:r>
            <a:endParaRPr lang="en-US" sz="11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D9F"/>
          </a:solidFill>
          <a:ln w="8255">
            <a:solidFill>
              <a:srgbClr val="008D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9184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LOGIKA WYSTĄPIENIA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Jedno badanie, trzy pytania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85216" y="1399032"/>
            <a:ext cx="11027664" cy="0"/>
          </a:xfrm>
          <a:prstGeom prst="line">
            <a:avLst/>
          </a:prstGeom>
          <a:noFill/>
          <a:ln w="12700">
            <a:solidFill>
              <a:srgbClr val="DBE6E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85216" y="651052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PSYCHOFIZJOLOGIA I POMIAR EEG  •  2026  •  v1.0.0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64922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755648"/>
            <a:ext cx="3557016" cy="2889504"/>
          </a:xfrm>
          <a:prstGeom prst="roundRect">
            <a:avLst>
              <a:gd name="adj" fmla="val 4114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993392"/>
            <a:ext cx="594360" cy="594360"/>
          </a:xfrm>
          <a:prstGeom prst="ellipse">
            <a:avLst/>
          </a:prstGeom>
          <a:solidFill>
            <a:srgbClr val="008D9F"/>
          </a:solidFill>
          <a:ln w="12700">
            <a:solidFill>
              <a:srgbClr val="008D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2075688"/>
            <a:ext cx="393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88036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Jak opisać EEG?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Struktura zbioru, kanały, metadane, zdarzenia.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389120" y="1755648"/>
            <a:ext cx="3557016" cy="2889504"/>
          </a:xfrm>
          <a:prstGeom prst="roundRect">
            <a:avLst>
              <a:gd name="adj" fmla="val 4114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9432" y="1993392"/>
            <a:ext cx="594360" cy="594360"/>
          </a:xfrm>
          <a:prstGeom prst="ellipse">
            <a:avLst/>
          </a:prstGeom>
          <a:solidFill>
            <a:srgbClr val="7165C8"/>
          </a:solidFill>
          <a:ln w="12700">
            <a:solidFill>
              <a:srgbClr val="7165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2075688"/>
            <a:ext cx="393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288036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Jak analizować sygnał?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617720" y="356616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Jakość, artefakty, PSD, jawne parametry.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183880" y="1755648"/>
            <a:ext cx="3557016" cy="2889504"/>
          </a:xfrm>
          <a:prstGeom prst="roundRect">
            <a:avLst>
              <a:gd name="adj" fmla="val 4114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94192" y="1993392"/>
            <a:ext cx="594360" cy="594360"/>
          </a:xfrm>
          <a:prstGeom prst="ellipse">
            <a:avLst/>
          </a:prstGeom>
          <a:solidFill>
            <a:srgbClr val="102A40"/>
          </a:solidFill>
          <a:ln w="12700">
            <a:solidFill>
              <a:srgbClr val="102A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94776" y="2075688"/>
            <a:ext cx="393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0" y="288036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Jak odtworzyć wynik?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412480" y="356616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Kod, wersje, zapis i pochodzenie danych.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94360" y="5038344"/>
            <a:ext cx="11018520" cy="914400"/>
          </a:xfrm>
          <a:prstGeom prst="roundRect">
            <a:avLst>
              <a:gd name="adj" fmla="val 13000"/>
            </a:avLst>
          </a:prstGeom>
          <a:solidFill>
            <a:srgbClr val="E2F7F6"/>
          </a:solidFill>
          <a:ln w="8255">
            <a:solidFill>
              <a:srgbClr val="E2F7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" y="525780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REPRODUKOWALNOŚĆ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519379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  +  metadane  +  kod  +  parametry  +  wersje  +  QC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D9F"/>
          </a:solidFill>
          <a:ln w="8255">
            <a:solidFill>
              <a:srgbClr val="008D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9184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PODSTAWY REJESTRACJI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EEG: co właściwie mierzymy?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85216" y="1399032"/>
            <a:ext cx="11027664" cy="0"/>
          </a:xfrm>
          <a:prstGeom prst="line">
            <a:avLst/>
          </a:prstGeom>
          <a:noFill/>
          <a:ln w="12700">
            <a:solidFill>
              <a:srgbClr val="DBE6E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85216" y="651052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PSYCHOFIZJOLOGIA I POMIAR EEG  •  2026  •  v1.0.0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64922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883664"/>
            <a:ext cx="2514600" cy="1143000"/>
          </a:xfrm>
          <a:prstGeom prst="roundRect">
            <a:avLst>
              <a:gd name="adj" fmla="val 10400"/>
            </a:avLst>
          </a:prstGeom>
          <a:solidFill>
            <a:srgbClr val="EBF3F8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103120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Aktywność bioelektryczna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61518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ŹRÓDŁO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18688" y="2459736"/>
            <a:ext cx="256032" cy="0"/>
          </a:xfrm>
          <a:prstGeom prst="line">
            <a:avLst/>
          </a:prstGeom>
          <a:noFill/>
          <a:ln w="25400">
            <a:solidFill>
              <a:srgbClr val="008D9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20440" y="1883664"/>
            <a:ext cx="2514600" cy="1143000"/>
          </a:xfrm>
          <a:prstGeom prst="roundRect">
            <a:avLst>
              <a:gd name="adj" fmla="val 10400"/>
            </a:avLst>
          </a:prstGeom>
          <a:solidFill>
            <a:srgbClr val="E2F7F6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2103120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Elektrody + referencja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261518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POMIAR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99048" y="2459736"/>
            <a:ext cx="256032" cy="0"/>
          </a:xfrm>
          <a:prstGeom prst="line">
            <a:avLst/>
          </a:prstGeom>
          <a:noFill/>
          <a:ln w="25400">
            <a:solidFill>
              <a:srgbClr val="008D9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0" y="1883664"/>
            <a:ext cx="2514600" cy="1143000"/>
          </a:xfrm>
          <a:prstGeom prst="roundRect">
            <a:avLst>
              <a:gd name="adj" fmla="val 10400"/>
            </a:avLst>
          </a:prstGeom>
          <a:solidFill>
            <a:srgbClr val="EBF3F8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2103120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Wzmacniacz / ADC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261518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AKWIZYCJA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979408" y="2459736"/>
            <a:ext cx="256032" cy="0"/>
          </a:xfrm>
          <a:prstGeom prst="line">
            <a:avLst/>
          </a:prstGeom>
          <a:noFill/>
          <a:ln w="25400">
            <a:solidFill>
              <a:srgbClr val="008D9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281160" y="1883664"/>
            <a:ext cx="2514600" cy="1143000"/>
          </a:xfrm>
          <a:prstGeom prst="roundRect">
            <a:avLst>
              <a:gd name="adj" fmla="val 10400"/>
            </a:avLst>
          </a:prstGeom>
          <a:solidFill>
            <a:srgbClr val="E2F7F6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45752" y="2103120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Próbki EEG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64040" y="261518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" y="3502152"/>
            <a:ext cx="6858000" cy="2240280"/>
          </a:xfrm>
          <a:prstGeom prst="roundRect">
            <a:avLst>
              <a:gd name="adj" fmla="val 5306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373075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Interpretację kształtują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14400" y="4423867"/>
            <a:ext cx="85954" cy="85954"/>
          </a:xfrm>
          <a:prstGeom prst="ellipse">
            <a:avLst/>
          </a:prstGeom>
          <a:solidFill>
            <a:srgbClr val="008D9F"/>
          </a:solidFill>
          <a:ln w="12700">
            <a:solidFill>
              <a:srgbClr val="008D9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06424" y="4315968"/>
            <a:ext cx="58430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Montaż i elektroda odniesienia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14400" y="4908499"/>
            <a:ext cx="85954" cy="85954"/>
          </a:xfrm>
          <a:prstGeom prst="ellipse">
            <a:avLst/>
          </a:prstGeom>
          <a:solidFill>
            <a:srgbClr val="008D9F"/>
          </a:solidFill>
          <a:ln w="12700">
            <a:solidFill>
              <a:srgbClr val="008D9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06424" y="4800600"/>
            <a:ext cx="58430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Częstotliwość próbkowania i kalibracja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14400" y="5402275"/>
            <a:ext cx="85954" cy="85954"/>
          </a:xfrm>
          <a:prstGeom prst="ellipse">
            <a:avLst/>
          </a:prstGeom>
          <a:solidFill>
            <a:srgbClr val="008D9F"/>
          </a:solidFill>
          <a:ln w="12700">
            <a:solidFill>
              <a:srgbClr val="008D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06424" y="5294376"/>
            <a:ext cx="58430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Impedancje, kontakt i szum aparatury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717536" y="3502152"/>
            <a:ext cx="3840480" cy="2240280"/>
          </a:xfrm>
          <a:prstGeom prst="roundRect">
            <a:avLst>
              <a:gd name="adj" fmla="val 5306"/>
            </a:avLst>
          </a:prstGeom>
          <a:solidFill>
            <a:srgbClr val="FFECE6"/>
          </a:solidFill>
          <a:ln w="8255">
            <a:solidFill>
              <a:srgbClr val="FFEC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0" y="3730752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746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Typowe artefakty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955280" y="4315968"/>
            <a:ext cx="325526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EOG · ruchy oczu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EMG · napięcie mięśni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zakłócenia sieciowe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0080" y="5961888"/>
            <a:ext cx="1074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065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Zmiana mocy EEG nie jest samodzielnym rozpoznaniem klinicznym.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D9F"/>
          </a:solidFill>
          <a:ln w="8255">
            <a:solidFill>
              <a:srgbClr val="008D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9184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ORGANIZACJA I POWTARZALNOŚĆ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Dlaczego EEG-BIDS?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85216" y="1399032"/>
            <a:ext cx="11027664" cy="0"/>
          </a:xfrm>
          <a:prstGeom prst="line">
            <a:avLst/>
          </a:prstGeom>
          <a:noFill/>
          <a:ln w="12700">
            <a:solidFill>
              <a:srgbClr val="DBE6E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85216" y="651052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PSYCHOFIZJOLOGIA I POMIAR EEG  •  2026  •  v1.0.0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64922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847088"/>
            <a:ext cx="4773168" cy="3364992"/>
          </a:xfrm>
          <a:prstGeom prst="roundRect">
            <a:avLst>
              <a:gd name="adj" fmla="val 3533"/>
            </a:avLst>
          </a:prstGeom>
          <a:solidFill>
            <a:srgbClr val="EEF3F7"/>
          </a:solidFill>
          <a:ln w="8255">
            <a:solidFill>
              <a:srgbClr val="EEF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08483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Bez wspólnej konwencji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60120" y="2878531"/>
            <a:ext cx="85954" cy="85954"/>
          </a:xfrm>
          <a:prstGeom prst="ellipse">
            <a:avLst/>
          </a:prstGeom>
          <a:solidFill>
            <a:srgbClr val="D06554"/>
          </a:solidFill>
          <a:ln w="12700">
            <a:solidFill>
              <a:srgbClr val="D065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144" y="2770632"/>
            <a:ext cx="3785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Nieprzewidywalne nazwy plików</a:t>
            </a:r>
            <a:endParaRPr lang="en-US" sz="1480" dirty="0"/>
          </a:p>
        </p:txBody>
      </p:sp>
      <p:sp>
        <p:nvSpPr>
          <p:cNvPr id="12" name="Shape 10"/>
          <p:cNvSpPr/>
          <p:nvPr/>
        </p:nvSpPr>
        <p:spPr>
          <a:xfrm>
            <a:off x="960120" y="3390595"/>
            <a:ext cx="85954" cy="85954"/>
          </a:xfrm>
          <a:prstGeom prst="ellipse">
            <a:avLst/>
          </a:prstGeom>
          <a:solidFill>
            <a:srgbClr val="D06554"/>
          </a:solidFill>
          <a:ln w="12700">
            <a:solidFill>
              <a:srgbClr val="D065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3282696"/>
            <a:ext cx="3785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 czytelnych opisów sesji</a:t>
            </a:r>
            <a:endParaRPr lang="en-US" sz="1480" dirty="0"/>
          </a:p>
        </p:txBody>
      </p:sp>
      <p:sp>
        <p:nvSpPr>
          <p:cNvPr id="14" name="Shape 12"/>
          <p:cNvSpPr/>
          <p:nvPr/>
        </p:nvSpPr>
        <p:spPr>
          <a:xfrm>
            <a:off x="960120" y="3902659"/>
            <a:ext cx="85954" cy="85954"/>
          </a:xfrm>
          <a:prstGeom prst="ellipse">
            <a:avLst/>
          </a:prstGeom>
          <a:solidFill>
            <a:srgbClr val="D06554"/>
          </a:solidFill>
          <a:ln w="12700">
            <a:solidFill>
              <a:srgbClr val="D065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" y="3794760"/>
            <a:ext cx="3785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Trudno automatyzować analizy</a:t>
            </a:r>
            <a:endParaRPr lang="en-US" sz="1480" dirty="0"/>
          </a:p>
        </p:txBody>
      </p:sp>
      <p:sp>
        <p:nvSpPr>
          <p:cNvPr id="16" name="Shape 14"/>
          <p:cNvSpPr/>
          <p:nvPr/>
        </p:nvSpPr>
        <p:spPr>
          <a:xfrm>
            <a:off x="960120" y="4414723"/>
            <a:ext cx="85954" cy="85954"/>
          </a:xfrm>
          <a:prstGeom prst="ellipse">
            <a:avLst/>
          </a:prstGeom>
          <a:solidFill>
            <a:srgbClr val="D06554"/>
          </a:solidFill>
          <a:ln w="12700">
            <a:solidFill>
              <a:srgbClr val="D065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2144" y="4306824"/>
            <a:ext cx="3785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Ryzyko utraty kontekstu</a:t>
            </a:r>
            <a:endParaRPr lang="en-US" sz="1480" dirty="0"/>
          </a:p>
        </p:txBody>
      </p:sp>
      <p:sp>
        <p:nvSpPr>
          <p:cNvPr id="18" name="Shape 16"/>
          <p:cNvSpPr/>
          <p:nvPr/>
        </p:nvSpPr>
        <p:spPr>
          <a:xfrm>
            <a:off x="5513832" y="3520440"/>
            <a:ext cx="1078992" cy="0"/>
          </a:xfrm>
          <a:prstGeom prst="line">
            <a:avLst/>
          </a:prstGeom>
          <a:noFill/>
          <a:ln w="25400">
            <a:solidFill>
              <a:srgbClr val="008D9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775704" y="1847088"/>
            <a:ext cx="4764024" cy="3364992"/>
          </a:xfrm>
          <a:prstGeom prst="roundRect">
            <a:avLst>
              <a:gd name="adj" fmla="val 3533"/>
            </a:avLst>
          </a:prstGeom>
          <a:solidFill>
            <a:srgbClr val="E2F7F6"/>
          </a:solidFill>
          <a:ln w="8255">
            <a:solidFill>
              <a:srgbClr val="E2F7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68312" y="20848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 konwencją EEG-BIDS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077456" y="2878531"/>
            <a:ext cx="85954" cy="85954"/>
          </a:xfrm>
          <a:prstGeom prst="ellipse">
            <a:avLst/>
          </a:prstGeom>
          <a:solidFill>
            <a:srgbClr val="008D9F"/>
          </a:solidFill>
          <a:ln w="12700">
            <a:solidFill>
              <a:srgbClr val="008D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2770632"/>
            <a:ext cx="3794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Jednolite nazwy i struktura</a:t>
            </a:r>
            <a:endParaRPr lang="en-US" sz="1480" dirty="0"/>
          </a:p>
        </p:txBody>
      </p:sp>
      <p:sp>
        <p:nvSpPr>
          <p:cNvPr id="23" name="Shape 21"/>
          <p:cNvSpPr/>
          <p:nvPr/>
        </p:nvSpPr>
        <p:spPr>
          <a:xfrm>
            <a:off x="7077456" y="3390595"/>
            <a:ext cx="85954" cy="85954"/>
          </a:xfrm>
          <a:prstGeom prst="ellipse">
            <a:avLst/>
          </a:prstGeom>
          <a:solidFill>
            <a:srgbClr val="008D9F"/>
          </a:solidFill>
          <a:ln w="12700">
            <a:solidFill>
              <a:srgbClr val="008D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3282696"/>
            <a:ext cx="3794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Metadane w TSV / JSON</a:t>
            </a:r>
            <a:endParaRPr lang="en-US" sz="1480" dirty="0"/>
          </a:p>
        </p:txBody>
      </p:sp>
      <p:sp>
        <p:nvSpPr>
          <p:cNvPr id="25" name="Shape 23"/>
          <p:cNvSpPr/>
          <p:nvPr/>
        </p:nvSpPr>
        <p:spPr>
          <a:xfrm>
            <a:off x="7077456" y="3902659"/>
            <a:ext cx="85954" cy="85954"/>
          </a:xfrm>
          <a:prstGeom prst="ellipse">
            <a:avLst/>
          </a:prstGeom>
          <a:solidFill>
            <a:srgbClr val="008D9F"/>
          </a:solidFill>
          <a:ln w="12700">
            <a:solidFill>
              <a:srgbClr val="008D9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3794760"/>
            <a:ext cx="3794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Walidacja automatyczna</a:t>
            </a:r>
            <a:endParaRPr lang="en-US" sz="1480" dirty="0"/>
          </a:p>
        </p:txBody>
      </p:sp>
      <p:sp>
        <p:nvSpPr>
          <p:cNvPr id="27" name="Shape 25"/>
          <p:cNvSpPr/>
          <p:nvPr/>
        </p:nvSpPr>
        <p:spPr>
          <a:xfrm>
            <a:off x="7077456" y="4414723"/>
            <a:ext cx="85954" cy="85954"/>
          </a:xfrm>
          <a:prstGeom prst="ellipse">
            <a:avLst/>
          </a:prstGeom>
          <a:solidFill>
            <a:srgbClr val="008D9F"/>
          </a:solidFill>
          <a:ln w="12700">
            <a:solidFill>
              <a:srgbClr val="008D9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4306824"/>
            <a:ext cx="3794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Łatwiejsza wymiana danych</a:t>
            </a:r>
            <a:endParaRPr lang="en-US" sz="1480" dirty="0"/>
          </a:p>
        </p:txBody>
      </p:sp>
      <p:sp>
        <p:nvSpPr>
          <p:cNvPr id="29" name="Shape 27"/>
          <p:cNvSpPr/>
          <p:nvPr/>
        </p:nvSpPr>
        <p:spPr>
          <a:xfrm>
            <a:off x="649224" y="5541264"/>
            <a:ext cx="10890504" cy="512064"/>
          </a:xfrm>
          <a:prstGeom prst="roundRect">
            <a:avLst>
              <a:gd name="adj" fmla="val 23214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" y="56052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BIDS poprawia opis i odnajdywanie danych; nie zastępuje jakości pomiaru.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D9F"/>
          </a:solidFill>
          <a:ln w="8255">
            <a:solidFill>
              <a:srgbClr val="008D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9184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HIERARCHIA I NAZEWNICTWO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Jak wygląda EEG-BIDS?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85216" y="1399032"/>
            <a:ext cx="11027664" cy="0"/>
          </a:xfrm>
          <a:prstGeom prst="line">
            <a:avLst/>
          </a:prstGeom>
          <a:noFill/>
          <a:ln w="12700">
            <a:solidFill>
              <a:srgbClr val="DBE6E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85216" y="651052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PSYCHOFIZJOLOGIA I POMIAR EEG  •  2026  •  v1.0.0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64922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" y="1737360"/>
            <a:ext cx="6519672" cy="4370832"/>
          </a:xfrm>
          <a:prstGeom prst="roundRect">
            <a:avLst>
              <a:gd name="adj" fmla="val 2720"/>
            </a:avLst>
          </a:prstGeom>
          <a:solidFill>
            <a:srgbClr val="071C2F"/>
          </a:solidFill>
          <a:ln w="8255">
            <a:solidFill>
              <a:srgbClr val="071C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6596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66DD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ds-eeg-demo/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914400" y="232257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EDF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dataset_description.json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914400" y="267919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EDF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participants.tsv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914400" y="303580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BAA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sub-001/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914400" y="339242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EDF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eeg/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914400" y="374904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EDF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 sub-001_task-rest_eeg.vhdr</a:t>
            </a:r>
            <a:endParaRPr lang="en-US" sz="1210" dirty="0"/>
          </a:p>
        </p:txBody>
      </p:sp>
      <p:sp>
        <p:nvSpPr>
          <p:cNvPr id="15" name="Text 13"/>
          <p:cNvSpPr/>
          <p:nvPr/>
        </p:nvSpPr>
        <p:spPr>
          <a:xfrm>
            <a:off x="914400" y="410565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EDF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 sub-001_task-rest_eeg.vmrk</a:t>
            </a:r>
            <a:endParaRPr lang="en-US" sz="1210" dirty="0"/>
          </a:p>
        </p:txBody>
      </p:sp>
      <p:sp>
        <p:nvSpPr>
          <p:cNvPr id="16" name="Text 14"/>
          <p:cNvSpPr/>
          <p:nvPr/>
        </p:nvSpPr>
        <p:spPr>
          <a:xfrm>
            <a:off x="914400" y="446227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EDF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 sub-001_task-rest_eeg.eeg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914400" y="481888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EDF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 sub-001_task-rest_eeg.json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914400" y="517550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EDF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 sub-001_task-rest_channels.tsv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914400" y="553212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EDF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 sub-001_task-rest_events.tsv*</a:t>
            </a:r>
            <a:endParaRPr lang="en-US" sz="1210" dirty="0"/>
          </a:p>
        </p:txBody>
      </p:sp>
      <p:sp>
        <p:nvSpPr>
          <p:cNvPr id="20" name="Shape 18"/>
          <p:cNvSpPr/>
          <p:nvPr/>
        </p:nvSpPr>
        <p:spPr>
          <a:xfrm>
            <a:off x="7406640" y="1773936"/>
            <a:ext cx="4160520" cy="1124712"/>
          </a:xfrm>
          <a:prstGeom prst="roundRect">
            <a:avLst>
              <a:gd name="adj" fmla="val 10569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1773936"/>
            <a:ext cx="64008" cy="1124712"/>
          </a:xfrm>
          <a:prstGeom prst="rect">
            <a:avLst/>
          </a:prstGeom>
          <a:solidFill>
            <a:srgbClr val="008D9F"/>
          </a:solidFill>
          <a:ln w="8255">
            <a:solidFill>
              <a:srgbClr val="008D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53528" y="1956816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653528" y="2459736"/>
            <a:ext cx="3666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Metadane nagrania i eksperymentu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06640" y="3099816"/>
            <a:ext cx="4160520" cy="1124712"/>
          </a:xfrm>
          <a:prstGeom prst="roundRect">
            <a:avLst>
              <a:gd name="adj" fmla="val 10569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0" y="3099816"/>
            <a:ext cx="64008" cy="1124712"/>
          </a:xfrm>
          <a:prstGeom prst="rect">
            <a:avLst/>
          </a:prstGeom>
          <a:solidFill>
            <a:srgbClr val="7165C8"/>
          </a:solidFill>
          <a:ln w="8255">
            <a:solidFill>
              <a:srgbClr val="7165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53528" y="3282696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TSV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653528" y="3785616"/>
            <a:ext cx="3666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Kanały i opcjonalne zdarzenia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06640" y="4407408"/>
            <a:ext cx="4160520" cy="1124712"/>
          </a:xfrm>
          <a:prstGeom prst="roundRect">
            <a:avLst>
              <a:gd name="adj" fmla="val 10569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6640" y="4407408"/>
            <a:ext cx="64008" cy="1124712"/>
          </a:xfrm>
          <a:prstGeom prst="rect">
            <a:avLst/>
          </a:prstGeom>
          <a:solidFill>
            <a:srgbClr val="102A40"/>
          </a:solidFill>
          <a:ln w="8255">
            <a:solidFill>
              <a:srgbClr val="102A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53528" y="4590288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BrainVision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653528" y="5093208"/>
            <a:ext cx="3666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Trójka .vhdr / .vmrk / .eeg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24928" y="5715000"/>
            <a:ext cx="4133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events.tsv, gdy właściwy dla zapisu. Struktura poglądowa; potrzebna walidacja.</a:t>
            </a:r>
            <a:endParaRPr lang="en-US" sz="10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D9F"/>
          </a:solidFill>
          <a:ln w="8255">
            <a:solidFill>
              <a:srgbClr val="008D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9184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SEMANTYKA NAGRANIA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Metadane, których nie widać na wykresie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85216" y="1399032"/>
            <a:ext cx="11027664" cy="0"/>
          </a:xfrm>
          <a:prstGeom prst="line">
            <a:avLst/>
          </a:prstGeom>
          <a:noFill/>
          <a:ln w="12700">
            <a:solidFill>
              <a:srgbClr val="DBE6E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85216" y="651052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PSYCHOFIZJOLOGIA I POMIAR EEG  •  2026  •  v1.0.0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64922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9224" y="1783080"/>
            <a:ext cx="10917936" cy="4014216"/>
          </a:xfrm>
          <a:prstGeom prst="roundRect">
            <a:avLst>
              <a:gd name="adj" fmla="val 2961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002536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SamplingFrequency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09160" y="1984248"/>
            <a:ext cx="6355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Częstotliwość próbkowania [Hz]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59536" y="2560320"/>
            <a:ext cx="10488168" cy="0"/>
          </a:xfrm>
          <a:prstGeom prst="line">
            <a:avLst/>
          </a:prstGeom>
          <a:noFill/>
          <a:ln w="7620">
            <a:solidFill>
              <a:srgbClr val="DBE6ED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22376" y="2578608"/>
            <a:ext cx="10753344" cy="749808"/>
          </a:xfrm>
          <a:prstGeom prst="rect">
            <a:avLst/>
          </a:prstGeom>
          <a:solidFill>
            <a:srgbClr val="F6F9FC"/>
          </a:solidFill>
          <a:ln w="8255">
            <a:solidFill>
              <a:srgbClr val="F6F9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2752344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EEGReference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09160" y="2734056"/>
            <a:ext cx="6355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Elektroda / układ odniesienia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59536" y="3310128"/>
            <a:ext cx="10488168" cy="0"/>
          </a:xfrm>
          <a:prstGeom prst="line">
            <a:avLst/>
          </a:prstGeom>
          <a:noFill/>
          <a:ln w="7620">
            <a:solidFill>
              <a:srgbClr val="DBE6ED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969264" y="3502152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PowerLineFrequency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09160" y="3483864"/>
            <a:ext cx="6355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Częstotliwość sieci [Hz]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59536" y="4059936"/>
            <a:ext cx="10488168" cy="0"/>
          </a:xfrm>
          <a:prstGeom prst="line">
            <a:avLst/>
          </a:prstGeom>
          <a:noFill/>
          <a:ln w="7620">
            <a:solidFill>
              <a:srgbClr val="DBE6ED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22376" y="4078224"/>
            <a:ext cx="10753344" cy="749808"/>
          </a:xfrm>
          <a:prstGeom prst="rect">
            <a:avLst/>
          </a:prstGeom>
          <a:solidFill>
            <a:srgbClr val="F6F9FC"/>
          </a:solidFill>
          <a:ln w="8255">
            <a:solidFill>
              <a:srgbClr val="F6F9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4251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channels.tsv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709160" y="4233672"/>
            <a:ext cx="6355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Nazwy kanałów, typy, jednostki i status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59536" y="4809744"/>
            <a:ext cx="10488168" cy="0"/>
          </a:xfrm>
          <a:prstGeom prst="line">
            <a:avLst/>
          </a:prstGeom>
          <a:noFill/>
          <a:ln w="7620">
            <a:solidFill>
              <a:srgbClr val="DBE6ED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969264" y="5001768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events.tsv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709160" y="4983480"/>
            <a:ext cx="6355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Czas oraz rodzaj zdarzeń, jeśli występują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877824" y="6016752"/>
            <a:ext cx="6629400" cy="338328"/>
          </a:xfrm>
          <a:prstGeom prst="roundRect">
            <a:avLst>
              <a:gd name="adj" fmla="val 37838"/>
            </a:avLst>
          </a:prstGeom>
          <a:solidFill>
            <a:srgbClr val="FFECE6"/>
          </a:solidFill>
          <a:ln w="8255">
            <a:solidFill>
              <a:srgbClr val="FFEC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6048756"/>
            <a:ext cx="6409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E55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Przykład: uV vs V = błąd 10⁶ w amplitudzie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D9F"/>
          </a:solidFill>
          <a:ln w="8255">
            <a:solidFill>
              <a:srgbClr val="008D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9184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ANALITYCZNY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 surowych próbek do wyniku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85216" y="1399032"/>
            <a:ext cx="11027664" cy="0"/>
          </a:xfrm>
          <a:prstGeom prst="line">
            <a:avLst/>
          </a:prstGeom>
          <a:noFill/>
          <a:ln w="12700">
            <a:solidFill>
              <a:srgbClr val="DBE6E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85216" y="651052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PSYCHOFIZJOLOGIA I POMIAR EEG  •  2026  •  v1.0.0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64922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2011680"/>
            <a:ext cx="1700784" cy="1271016"/>
          </a:xfrm>
          <a:prstGeom prst="roundRect">
            <a:avLst>
              <a:gd name="adj" fmla="val 9353"/>
            </a:avLst>
          </a:prstGeom>
          <a:solidFill>
            <a:srgbClr val="EBF3F8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945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2587752"/>
            <a:ext cx="1490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377440" y="2651760"/>
            <a:ext cx="155448" cy="0"/>
          </a:xfrm>
          <a:prstGeom prst="line">
            <a:avLst/>
          </a:prstGeom>
          <a:noFill/>
          <a:ln w="25400">
            <a:solidFill>
              <a:srgbClr val="008D9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60320" y="2011680"/>
            <a:ext cx="1700784" cy="1271016"/>
          </a:xfrm>
          <a:prstGeom prst="roundRect">
            <a:avLst>
              <a:gd name="adj" fmla="val 9353"/>
            </a:avLst>
          </a:prstGeom>
          <a:solidFill>
            <a:srgbClr val="E2F7F6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9192" y="21945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60904" y="2587752"/>
            <a:ext cx="1490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Kontrola jakości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279392" y="2651760"/>
            <a:ext cx="155448" cy="0"/>
          </a:xfrm>
          <a:prstGeom prst="line">
            <a:avLst/>
          </a:prstGeom>
          <a:noFill/>
          <a:ln w="25400">
            <a:solidFill>
              <a:srgbClr val="008D9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62272" y="2011680"/>
            <a:ext cx="1700784" cy="1271016"/>
          </a:xfrm>
          <a:prstGeom prst="roundRect">
            <a:avLst>
              <a:gd name="adj" fmla="val 9353"/>
            </a:avLst>
          </a:prstGeom>
          <a:solidFill>
            <a:srgbClr val="EBF3F8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1144" y="21945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62856" y="2587752"/>
            <a:ext cx="1490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Filtracja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81344" y="2651760"/>
            <a:ext cx="155448" cy="0"/>
          </a:xfrm>
          <a:prstGeom prst="line">
            <a:avLst/>
          </a:prstGeom>
          <a:noFill/>
          <a:ln w="25400">
            <a:solidFill>
              <a:srgbClr val="008D9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64224" y="2011680"/>
            <a:ext cx="1700784" cy="1271016"/>
          </a:xfrm>
          <a:prstGeom prst="roundRect">
            <a:avLst>
              <a:gd name="adj" fmla="val 9353"/>
            </a:avLst>
          </a:prstGeom>
          <a:solidFill>
            <a:srgbClr val="E2F7F6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3096" y="21945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64808" y="2587752"/>
            <a:ext cx="1490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Artefakty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83296" y="2651760"/>
            <a:ext cx="155448" cy="0"/>
          </a:xfrm>
          <a:prstGeom prst="line">
            <a:avLst/>
          </a:prstGeom>
          <a:noFill/>
          <a:ln w="25400">
            <a:solidFill>
              <a:srgbClr val="008D9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66176" y="2011680"/>
            <a:ext cx="1700784" cy="1271016"/>
          </a:xfrm>
          <a:prstGeom prst="roundRect">
            <a:avLst>
              <a:gd name="adj" fmla="val 9353"/>
            </a:avLst>
          </a:prstGeom>
          <a:solidFill>
            <a:srgbClr val="EBF3F8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5048" y="21945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66760" y="2587752"/>
            <a:ext cx="1490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Estymacja PSD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9985248" y="2651760"/>
            <a:ext cx="155448" cy="0"/>
          </a:xfrm>
          <a:prstGeom prst="line">
            <a:avLst/>
          </a:prstGeom>
          <a:noFill/>
          <a:ln w="25400">
            <a:solidFill>
              <a:srgbClr val="008D9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68128" y="2011680"/>
            <a:ext cx="1700784" cy="1271016"/>
          </a:xfrm>
          <a:prstGeom prst="roundRect">
            <a:avLst>
              <a:gd name="adj" fmla="val 9353"/>
            </a:avLst>
          </a:prstGeom>
          <a:solidFill>
            <a:srgbClr val="E2F7F6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87000" y="21945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68712" y="2587752"/>
            <a:ext cx="1490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Raport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67512" y="3712464"/>
            <a:ext cx="5340096" cy="1673352"/>
          </a:xfrm>
          <a:prstGeom prst="roundRect">
            <a:avLst>
              <a:gd name="adj" fmla="val 7104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" y="3712464"/>
            <a:ext cx="64008" cy="1673352"/>
          </a:xfrm>
          <a:prstGeom prst="rect">
            <a:avLst/>
          </a:prstGeom>
          <a:solidFill>
            <a:srgbClr val="008D9F"/>
          </a:solidFill>
          <a:ln w="8255">
            <a:solidFill>
              <a:srgbClr val="008D9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3895344"/>
            <a:ext cx="4882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Pytania kontrolne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14400" y="4398264"/>
            <a:ext cx="48463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Jakie jednostki? Jakie kanały? Jakie zdarzenia? Czy są przerwy i szum?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08776" y="3712464"/>
            <a:ext cx="5340096" cy="1673352"/>
          </a:xfrm>
          <a:prstGeom prst="roundRect">
            <a:avLst>
              <a:gd name="adj" fmla="val 7104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08776" y="3712464"/>
            <a:ext cx="64008" cy="1673352"/>
          </a:xfrm>
          <a:prstGeom prst="rect">
            <a:avLst/>
          </a:prstGeom>
          <a:solidFill>
            <a:srgbClr val="7165C8"/>
          </a:solidFill>
          <a:ln w="8255">
            <a:solidFill>
              <a:srgbClr val="7165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55664" y="3895344"/>
            <a:ext cx="4882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Reprodukowalność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455664" y="4398264"/>
            <a:ext cx="48463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Zapisz filtry, epoki, okna, biblioteki, wersje i parametry przetwarzania.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04088" y="58521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065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Filtracja nie jest neutralną operacją: zmienia obserwowany sygnał.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D9F"/>
          </a:solidFill>
          <a:ln w="8255">
            <a:solidFill>
              <a:srgbClr val="008D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9184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PORÓWNANIE WARUNKÓW EO / EC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Oczy otwarte vs zamknięte: przykład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85216" y="1399032"/>
            <a:ext cx="11027664" cy="0"/>
          </a:xfrm>
          <a:prstGeom prst="line">
            <a:avLst/>
          </a:prstGeom>
          <a:noFill/>
          <a:ln w="12700">
            <a:solidFill>
              <a:srgbClr val="DBE6E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85216" y="651052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PSYCHOFIZJOLOGIA I POMIAR EEG  •  2026  •  v1.0.0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64922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30936" y="1773936"/>
            <a:ext cx="7589520" cy="4315968"/>
          </a:xfrm>
          <a:prstGeom prst="roundRect">
            <a:avLst>
              <a:gd name="adj" fmla="val 2754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pic>
        <p:nvPicPr>
          <p:cNvPr id="9" name="Image 0" descr="/mnt/data/eeg_presentation_build/signal_synthe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93392"/>
            <a:ext cx="7315200" cy="37124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458200" y="1773936"/>
            <a:ext cx="3081528" cy="1298448"/>
          </a:xfrm>
          <a:prstGeom prst="roundRect">
            <a:avLst>
              <a:gd name="adj" fmla="val 9155"/>
            </a:avLst>
          </a:prstGeom>
          <a:solidFill>
            <a:srgbClr val="E2F7F6"/>
          </a:solidFill>
          <a:ln w="8255">
            <a:solidFill>
              <a:srgbClr val="E2F7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32520" y="1929384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732520" y="2395728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Oczy otwarte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458200" y="3255264"/>
            <a:ext cx="3081528" cy="1307592"/>
          </a:xfrm>
          <a:prstGeom prst="roundRect">
            <a:avLst>
              <a:gd name="adj" fmla="val 9091"/>
            </a:avLst>
          </a:prstGeom>
          <a:solidFill>
            <a:srgbClr val="F0ECFA"/>
          </a:solidFill>
          <a:ln w="8255">
            <a:solidFill>
              <a:srgbClr val="F0EC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32520" y="3410712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16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732520" y="3867912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Oczy zamknięte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458200" y="4828032"/>
            <a:ext cx="3090672" cy="1152144"/>
          </a:xfrm>
          <a:prstGeom prst="roundRect">
            <a:avLst>
              <a:gd name="adj" fmla="val 10317"/>
            </a:avLst>
          </a:prstGeom>
          <a:solidFill>
            <a:srgbClr val="FFECE6"/>
          </a:solidFill>
          <a:ln w="8255">
            <a:solidFill>
              <a:srgbClr val="FFEC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59368" y="5047488"/>
            <a:ext cx="2679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A54D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WYŁĄCZNIE SYMULACJA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8650224" y="5422392"/>
            <a:ext cx="2715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 są to pomiary człowieka.</a:t>
            </a:r>
            <a:endParaRPr lang="en-US" sz="10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D9F"/>
          </a:solidFill>
          <a:ln w="8255">
            <a:solidFill>
              <a:srgbClr val="008D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9184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 CZĘSTOTLIWOŚCI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Widmo mocy i rytm alfa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85216" y="1399032"/>
            <a:ext cx="11027664" cy="0"/>
          </a:xfrm>
          <a:prstGeom prst="line">
            <a:avLst/>
          </a:prstGeom>
          <a:noFill/>
          <a:ln w="12700">
            <a:solidFill>
              <a:srgbClr val="DBE6E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85216" y="651052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PSYCHOFIZJOLOGIA I POMIAR EEG  •  2026  •  v1.0.0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64922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3504" y="1773936"/>
            <a:ext cx="7562088" cy="4407408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pic>
        <p:nvPicPr>
          <p:cNvPr id="9" name="Image 0" descr="/mnt/data/eeg_presentation_build/psd_synthe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75104"/>
            <a:ext cx="7178040" cy="38770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1792224"/>
            <a:ext cx="3209544" cy="1161288"/>
          </a:xfrm>
          <a:prstGeom prst="roundRect">
            <a:avLst>
              <a:gd name="adj" fmla="val 10236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66760" y="1792224"/>
            <a:ext cx="64008" cy="1161288"/>
          </a:xfrm>
          <a:prstGeom prst="rect">
            <a:avLst/>
          </a:prstGeom>
          <a:solidFill>
            <a:srgbClr val="008D9F"/>
          </a:solidFill>
          <a:ln w="8255">
            <a:solidFill>
              <a:srgbClr val="008D9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13648" y="1975104"/>
            <a:ext cx="2752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Metoda Welcha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613648" y="2478024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Średnia widm okien czasowych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366760" y="3127248"/>
            <a:ext cx="3209544" cy="1161288"/>
          </a:xfrm>
          <a:prstGeom prst="roundRect">
            <a:avLst>
              <a:gd name="adj" fmla="val 10236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66760" y="3127248"/>
            <a:ext cx="64008" cy="1161288"/>
          </a:xfrm>
          <a:prstGeom prst="rect">
            <a:avLst/>
          </a:prstGeom>
          <a:solidFill>
            <a:srgbClr val="7165C8"/>
          </a:solidFill>
          <a:ln w="8255">
            <a:solidFill>
              <a:srgbClr val="7165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13648" y="3310128"/>
            <a:ext cx="2752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Rytm alfa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613648" y="3813048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Pasmo 8–13 Hz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366760" y="4489704"/>
            <a:ext cx="3209544" cy="1408176"/>
          </a:xfrm>
          <a:prstGeom prst="roundRect">
            <a:avLst>
              <a:gd name="adj" fmla="val 8442"/>
            </a:avLst>
          </a:prstGeom>
          <a:solidFill>
            <a:srgbClr val="FFECE6"/>
          </a:solidFill>
          <a:ln w="8255">
            <a:solidFill>
              <a:srgbClr val="FFEC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77072" y="4681728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A54D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UWAGA</a:t>
            </a:r>
            <a:endParaRPr lang="en-US" sz="1330" dirty="0"/>
          </a:p>
        </p:txBody>
      </p:sp>
      <p:sp>
        <p:nvSpPr>
          <p:cNvPr id="20" name="Text 17"/>
          <p:cNvSpPr/>
          <p:nvPr/>
        </p:nvSpPr>
        <p:spPr>
          <a:xfrm>
            <a:off x="8577072" y="5065776"/>
            <a:ext cx="27614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Wykres wygenerowany z danych syntetycznych.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D9F"/>
          </a:solidFill>
          <a:ln w="8255">
            <a:solidFill>
              <a:srgbClr val="008D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9184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KONKRETNY KOD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/ MNE: analiza odtwarzalna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85216" y="1399032"/>
            <a:ext cx="11027664" cy="0"/>
          </a:xfrm>
          <a:prstGeom prst="line">
            <a:avLst/>
          </a:prstGeom>
          <a:noFill/>
          <a:ln w="12700">
            <a:solidFill>
              <a:srgbClr val="DBE6E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85216" y="651052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PSYCHOFIZJOLOGIA I POMIAR EEG  •  2026  •  v1.0.0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64922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792224"/>
            <a:ext cx="7498080" cy="4160520"/>
          </a:xfrm>
          <a:prstGeom prst="roundRect">
            <a:avLst>
              <a:gd name="adj" fmla="val 2857"/>
            </a:avLst>
          </a:prstGeom>
          <a:solidFill>
            <a:srgbClr val="071C2F"/>
          </a:solidFill>
          <a:ln w="8255">
            <a:solidFill>
              <a:srgbClr val="071C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048256"/>
            <a:ext cx="6940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6DA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0976" y="2423160"/>
            <a:ext cx="6940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6DA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mne_bids import BIDSPath, read_raw_bids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0976" y="2798064"/>
            <a:ext cx="6940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50976" y="3172968"/>
            <a:ext cx="6940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3A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= BIDSPath(subject="001", task="rest",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50976" y="3547872"/>
            <a:ext cx="6940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B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datatype="eeg", root="data/bids/ds-demo")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50976" y="3922776"/>
            <a:ext cx="6940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3A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read_raw_bids(bids_path=path,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50976" y="4297680"/>
            <a:ext cx="6940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B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verbose=False)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50976" y="4672584"/>
            <a:ext cx="6940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B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raw.compute_psd(method="welch",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50976" y="5047488"/>
            <a:ext cx="6940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B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fmin=1, fmax=40).plot()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403336" y="1801368"/>
            <a:ext cx="3127248" cy="1170432"/>
          </a:xfrm>
          <a:prstGeom prst="roundRect">
            <a:avLst>
              <a:gd name="adj" fmla="val 10156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03336" y="1801368"/>
            <a:ext cx="64008" cy="1170432"/>
          </a:xfrm>
          <a:prstGeom prst="rect">
            <a:avLst/>
          </a:prstGeom>
          <a:solidFill>
            <a:srgbClr val="008D9F"/>
          </a:solidFill>
          <a:ln w="8255">
            <a:solidFill>
              <a:srgbClr val="008D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50224" y="1984248"/>
            <a:ext cx="2670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50224" y="248716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MNE-BIDS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03336" y="3182112"/>
            <a:ext cx="3127248" cy="1170432"/>
          </a:xfrm>
          <a:prstGeom prst="roundRect">
            <a:avLst>
              <a:gd name="adj" fmla="val 10156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03336" y="3182112"/>
            <a:ext cx="64008" cy="1170432"/>
          </a:xfrm>
          <a:prstGeom prst="rect">
            <a:avLst/>
          </a:prstGeom>
          <a:solidFill>
            <a:srgbClr val="7165C8"/>
          </a:solidFill>
          <a:ln w="8255">
            <a:solidFill>
              <a:srgbClr val="7165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50224" y="3364992"/>
            <a:ext cx="2670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Estymacja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650224" y="386791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Welch PSD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403336" y="4553712"/>
            <a:ext cx="3127248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03336" y="4553712"/>
            <a:ext cx="64008" cy="1188720"/>
          </a:xfrm>
          <a:prstGeom prst="rect">
            <a:avLst/>
          </a:prstGeom>
          <a:solidFill>
            <a:srgbClr val="102A40"/>
          </a:solidFill>
          <a:ln w="8255">
            <a:solidFill>
              <a:srgbClr val="102A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50224" y="4736592"/>
            <a:ext cx="2670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Warunek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650224" y="523951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Poprawny i odczytywalny zbiór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" y="6135624"/>
            <a:ext cx="10881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Źródło API: mne.tools/mne-bids. Kod ilustracyjny, nie uruchamiany na nieistniejącym zbiorze.</a:t>
            </a:r>
            <a:endParaRPr lang="en-US" sz="9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D9F"/>
          </a:solidFill>
          <a:ln w="8255">
            <a:solidFill>
              <a:srgbClr val="008D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9184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IMPLEMENTACJI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EEG Neurolyze: co rzeczywiście działa?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85216" y="1399032"/>
            <a:ext cx="11027664" cy="0"/>
          </a:xfrm>
          <a:prstGeom prst="line">
            <a:avLst/>
          </a:prstGeom>
          <a:noFill/>
          <a:ln w="12700">
            <a:solidFill>
              <a:srgbClr val="DBE6E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85216" y="651052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PSYCHOFIZJOLOGIA I POMIAR EEG  •  2026  •  v1.0.0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64922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12648" y="1773936"/>
            <a:ext cx="5349240" cy="4416552"/>
          </a:xfrm>
          <a:prstGeom prst="roundRect">
            <a:avLst>
              <a:gd name="adj" fmla="val 2692"/>
            </a:avLst>
          </a:prstGeom>
          <a:solidFill>
            <a:srgbClr val="E2F7F6"/>
          </a:solidFill>
          <a:ln w="8255">
            <a:solidFill>
              <a:srgbClr val="E2F7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0391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7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ZAIMPLEMENTOWANE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86968" y="2860243"/>
            <a:ext cx="85954" cy="85954"/>
          </a:xfrm>
          <a:prstGeom prst="ellipse">
            <a:avLst/>
          </a:prstGeom>
          <a:solidFill>
            <a:srgbClr val="247F77"/>
          </a:solidFill>
          <a:ln w="12700">
            <a:solidFill>
              <a:srgbClr val="247F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752344"/>
            <a:ext cx="45354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Symulowany eksperyment EO/EC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886968" y="3354019"/>
            <a:ext cx="85954" cy="85954"/>
          </a:xfrm>
          <a:prstGeom prst="ellipse">
            <a:avLst/>
          </a:prstGeom>
          <a:solidFill>
            <a:srgbClr val="247F77"/>
          </a:solidFill>
          <a:ln w="12700">
            <a:solidFill>
              <a:srgbClr val="247F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246120"/>
            <a:ext cx="45354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Archiwum .eegz z SHA-256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886968" y="3847795"/>
            <a:ext cx="85954" cy="85954"/>
          </a:xfrm>
          <a:prstGeom prst="ellipse">
            <a:avLst/>
          </a:prstGeom>
          <a:solidFill>
            <a:srgbClr val="247F77"/>
          </a:solidFill>
          <a:ln w="12700">
            <a:solidFill>
              <a:srgbClr val="247F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739896"/>
            <a:ext cx="45354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Raport HTML i PSD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886968" y="4341571"/>
            <a:ext cx="85954" cy="85954"/>
          </a:xfrm>
          <a:prstGeom prst="ellipse">
            <a:avLst/>
          </a:prstGeom>
          <a:solidFill>
            <a:srgbClr val="247F77"/>
          </a:solidFill>
          <a:ln w="12700">
            <a:solidFill>
              <a:srgbClr val="247F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4233672"/>
            <a:ext cx="45354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Eksport syntetycznego EEG-BIDS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886968" y="4835347"/>
            <a:ext cx="85954" cy="85954"/>
          </a:xfrm>
          <a:prstGeom prst="ellipse">
            <a:avLst/>
          </a:prstGeom>
          <a:solidFill>
            <a:srgbClr val="247F77"/>
          </a:solidFill>
          <a:ln w="12700">
            <a:solidFill>
              <a:srgbClr val="247F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4727448"/>
            <a:ext cx="45354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Komenda oficjalnego walidatora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6199632" y="1773936"/>
            <a:ext cx="5349240" cy="4416552"/>
          </a:xfrm>
          <a:prstGeom prst="roundRect">
            <a:avLst>
              <a:gd name="adj" fmla="val 2692"/>
            </a:avLst>
          </a:prstGeom>
          <a:solidFill>
            <a:srgbClr val="FFECE6"/>
          </a:solidFill>
          <a:ln w="8255">
            <a:solidFill>
              <a:srgbClr val="FFE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20391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54D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NIEPOTWIERDZONE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483096" y="2860243"/>
            <a:ext cx="85954" cy="85954"/>
          </a:xfrm>
          <a:prstGeom prst="ellipse">
            <a:avLst/>
          </a:prstGeom>
          <a:solidFill>
            <a:srgbClr val="D06554"/>
          </a:solidFill>
          <a:ln w="12700">
            <a:solidFill>
              <a:srgbClr val="D065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752344"/>
            <a:ext cx="45354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Poprawność fizycznej akwizycji Muse</a:t>
            </a:r>
            <a:endParaRPr lang="en-US" sz="1520" dirty="0"/>
          </a:p>
        </p:txBody>
      </p:sp>
      <p:sp>
        <p:nvSpPr>
          <p:cNvPr id="24" name="Shape 22"/>
          <p:cNvSpPr/>
          <p:nvPr/>
        </p:nvSpPr>
        <p:spPr>
          <a:xfrm>
            <a:off x="6483096" y="3354019"/>
            <a:ext cx="85954" cy="85954"/>
          </a:xfrm>
          <a:prstGeom prst="ellipse">
            <a:avLst/>
          </a:prstGeom>
          <a:solidFill>
            <a:srgbClr val="D06554"/>
          </a:solidFill>
          <a:ln w="12700">
            <a:solidFill>
              <a:srgbClr val="D065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246120"/>
            <a:ext cx="45354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Zegary i ciągłość transmisji BLE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6483096" y="3847795"/>
            <a:ext cx="85954" cy="85954"/>
          </a:xfrm>
          <a:prstGeom prst="ellipse">
            <a:avLst/>
          </a:prstGeom>
          <a:solidFill>
            <a:srgbClr val="D06554"/>
          </a:solidFill>
          <a:ln w="12700">
            <a:solidFill>
              <a:srgbClr val="D065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739896"/>
            <a:ext cx="45354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Mapowanie / referencja urządzenia</a:t>
            </a:r>
            <a:endParaRPr lang="en-US" sz="1520" dirty="0"/>
          </a:p>
        </p:txBody>
      </p:sp>
      <p:sp>
        <p:nvSpPr>
          <p:cNvPr id="28" name="Shape 26"/>
          <p:cNvSpPr/>
          <p:nvPr/>
        </p:nvSpPr>
        <p:spPr>
          <a:xfrm>
            <a:off x="6483096" y="4341571"/>
            <a:ext cx="85954" cy="85954"/>
          </a:xfrm>
          <a:prstGeom prst="ellipse">
            <a:avLst/>
          </a:prstGeom>
          <a:solidFill>
            <a:srgbClr val="D06554"/>
          </a:solidFill>
          <a:ln w="12700">
            <a:solidFill>
              <a:srgbClr val="D065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4233672"/>
            <a:ext cx="45354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Jakość danych ludzkich</a:t>
            </a:r>
            <a:endParaRPr lang="en-US" sz="1520" dirty="0"/>
          </a:p>
        </p:txBody>
      </p:sp>
      <p:sp>
        <p:nvSpPr>
          <p:cNvPr id="30" name="Shape 28"/>
          <p:cNvSpPr/>
          <p:nvPr/>
        </p:nvSpPr>
        <p:spPr>
          <a:xfrm>
            <a:off x="6483096" y="4835347"/>
            <a:ext cx="85954" cy="85954"/>
          </a:xfrm>
          <a:prstGeom prst="ellipse">
            <a:avLst/>
          </a:prstGeom>
          <a:solidFill>
            <a:srgbClr val="D06554"/>
          </a:solidFill>
          <a:ln w="12700">
            <a:solidFill>
              <a:srgbClr val="D065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4727448"/>
            <a:ext cx="45354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Wiarygodność diagnostyczna</a:t>
            </a:r>
            <a:endParaRPr lang="en-US" sz="15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D9F"/>
          </a:solidFill>
          <a:ln w="8255">
            <a:solidFill>
              <a:srgbClr val="008D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9184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SCENARIUSZ END-TO-END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Demonstracja: 8–10 minut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85216" y="1399032"/>
            <a:ext cx="11027664" cy="0"/>
          </a:xfrm>
          <a:prstGeom prst="line">
            <a:avLst/>
          </a:prstGeom>
          <a:noFill/>
          <a:ln w="12700">
            <a:solidFill>
              <a:srgbClr val="DBE6E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85216" y="651052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PSYCHOFIZJOLOGIA I POMIAR EEG  •  2026  •  v1.0.0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64922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1874520"/>
            <a:ext cx="402336" cy="402336"/>
          </a:xfrm>
          <a:prstGeom prst="ellipse">
            <a:avLst/>
          </a:prstGeom>
          <a:solidFill>
            <a:srgbClr val="008D9F"/>
          </a:solidFill>
          <a:ln w="12700">
            <a:solidFill>
              <a:srgbClr val="008D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7474" y="1945843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34440" y="1746504"/>
            <a:ext cx="10241280" cy="630936"/>
          </a:xfrm>
          <a:prstGeom prst="roundRect">
            <a:avLst>
              <a:gd name="adj" fmla="val 18841"/>
            </a:avLst>
          </a:prstGeom>
          <a:solidFill>
            <a:srgbClr val="EBF3F8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6192" y="1856232"/>
            <a:ext cx="3813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3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Generuj EO/EC</a:t>
            </a:r>
            <a:endParaRPr lang="en-US" sz="1630" dirty="0"/>
          </a:p>
        </p:txBody>
      </p:sp>
      <p:sp>
        <p:nvSpPr>
          <p:cNvPr id="12" name="Text 10"/>
          <p:cNvSpPr/>
          <p:nvPr/>
        </p:nvSpPr>
        <p:spPr>
          <a:xfrm>
            <a:off x="6748272" y="189280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50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seed=42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3232" y="2679192"/>
            <a:ext cx="402336" cy="402336"/>
          </a:xfrm>
          <a:prstGeom prst="ellipse">
            <a:avLst/>
          </a:prstGeom>
          <a:solidFill>
            <a:srgbClr val="008D9F"/>
          </a:solidFill>
          <a:ln w="12700">
            <a:solidFill>
              <a:srgbClr val="008D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7474" y="275051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34440" y="2551176"/>
            <a:ext cx="10241280" cy="630936"/>
          </a:xfrm>
          <a:prstGeom prst="roundRect">
            <a:avLst>
              <a:gd name="adj" fmla="val 18841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36192" y="2660904"/>
            <a:ext cx="3813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3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Zobacz raport</a:t>
            </a:r>
            <a:endParaRPr lang="en-US" sz="1630" dirty="0"/>
          </a:p>
        </p:txBody>
      </p:sp>
      <p:sp>
        <p:nvSpPr>
          <p:cNvPr id="17" name="Text 15"/>
          <p:cNvSpPr/>
          <p:nvPr/>
        </p:nvSpPr>
        <p:spPr>
          <a:xfrm>
            <a:off x="6748272" y="269748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50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.eegz + HTML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13232" y="3483864"/>
            <a:ext cx="402336" cy="402336"/>
          </a:xfrm>
          <a:prstGeom prst="ellipse">
            <a:avLst/>
          </a:prstGeom>
          <a:solidFill>
            <a:srgbClr val="008D9F"/>
          </a:solidFill>
          <a:ln w="12700">
            <a:solidFill>
              <a:srgbClr val="008D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474" y="3555187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234440" y="3355848"/>
            <a:ext cx="10241280" cy="630936"/>
          </a:xfrm>
          <a:prstGeom prst="roundRect">
            <a:avLst>
              <a:gd name="adj" fmla="val 18841"/>
            </a:avLst>
          </a:prstGeom>
          <a:solidFill>
            <a:srgbClr val="EBF3F8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36192" y="3465576"/>
            <a:ext cx="3813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3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Otwórz PSD</a:t>
            </a:r>
            <a:endParaRPr lang="en-US" sz="1630" dirty="0"/>
          </a:p>
        </p:txBody>
      </p:sp>
      <p:sp>
        <p:nvSpPr>
          <p:cNvPr id="22" name="Text 20"/>
          <p:cNvSpPr/>
          <p:nvPr/>
        </p:nvSpPr>
        <p:spPr>
          <a:xfrm>
            <a:off x="6748272" y="350215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50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plot --view psd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13232" y="4288536"/>
            <a:ext cx="402336" cy="402336"/>
          </a:xfrm>
          <a:prstGeom prst="ellipse">
            <a:avLst/>
          </a:prstGeom>
          <a:solidFill>
            <a:srgbClr val="008D9F"/>
          </a:solidFill>
          <a:ln w="12700">
            <a:solidFill>
              <a:srgbClr val="008D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7474" y="4359859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234440" y="4160520"/>
            <a:ext cx="10241280" cy="630936"/>
          </a:xfrm>
          <a:prstGeom prst="roundRect">
            <a:avLst>
              <a:gd name="adj" fmla="val 18841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36192" y="4270248"/>
            <a:ext cx="3813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3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Eksportuj BIDS</a:t>
            </a:r>
            <a:endParaRPr lang="en-US" sz="1630" dirty="0"/>
          </a:p>
        </p:txBody>
      </p:sp>
      <p:sp>
        <p:nvSpPr>
          <p:cNvPr id="27" name="Text 25"/>
          <p:cNvSpPr/>
          <p:nvPr/>
        </p:nvSpPr>
        <p:spPr>
          <a:xfrm>
            <a:off x="6748272" y="43068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50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nowy katalog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713232" y="5093208"/>
            <a:ext cx="402336" cy="402336"/>
          </a:xfrm>
          <a:prstGeom prst="ellipse">
            <a:avLst/>
          </a:prstGeom>
          <a:solidFill>
            <a:srgbClr val="7165C8"/>
          </a:solidFill>
          <a:ln w="12700">
            <a:solidFill>
              <a:srgbClr val="7165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7474" y="5164531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234440" y="4965192"/>
            <a:ext cx="10241280" cy="630936"/>
          </a:xfrm>
          <a:prstGeom prst="roundRect">
            <a:avLst>
              <a:gd name="adj" fmla="val 18841"/>
            </a:avLst>
          </a:prstGeom>
          <a:solidFill>
            <a:srgbClr val="EBF3F8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36192" y="5074920"/>
            <a:ext cx="3813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3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Uruchom walidator</a:t>
            </a:r>
            <a:endParaRPr lang="en-US" sz="1630" dirty="0"/>
          </a:p>
        </p:txBody>
      </p:sp>
      <p:sp>
        <p:nvSpPr>
          <p:cNvPr id="32" name="Text 30"/>
          <p:cNvSpPr/>
          <p:nvPr/>
        </p:nvSpPr>
        <p:spPr>
          <a:xfrm>
            <a:off x="6748272" y="511149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50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zapisz wynik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67512" y="5943600"/>
            <a:ext cx="10771632" cy="393192"/>
          </a:xfrm>
          <a:prstGeom prst="roundRect">
            <a:avLst>
              <a:gd name="adj" fmla="val 30233"/>
            </a:avLst>
          </a:prstGeom>
          <a:solidFill>
            <a:srgbClr val="FFECE6"/>
          </a:solidFill>
          <a:ln w="8255">
            <a:solidFill>
              <a:srgbClr val="FFEC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5989320"/>
            <a:ext cx="10479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A94F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Każdy wynik podpisany „syntetyczny”; walidację i błędy pokaż bez ukrywania.</a:t>
            </a:r>
            <a:endParaRPr lang="en-US" sz="13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D9F"/>
          </a:solidFill>
          <a:ln w="8255">
            <a:solidFill>
              <a:srgbClr val="008D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9184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008D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PUŁAPKI METODOLOGICZNE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Granice interpretacji i dowodów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85216" y="1399032"/>
            <a:ext cx="11027664" cy="0"/>
          </a:xfrm>
          <a:prstGeom prst="line">
            <a:avLst/>
          </a:prstGeom>
          <a:noFill/>
          <a:ln w="12700">
            <a:solidFill>
              <a:srgbClr val="DBE6E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85216" y="651052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PSYCHOFIZJOLOGIA I POMIAR EEG  •  2026  •  v1.0.0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64922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B71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783080"/>
            <a:ext cx="5248656" cy="1728216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783080"/>
            <a:ext cx="64008" cy="1728216"/>
          </a:xfrm>
          <a:prstGeom prst="rect">
            <a:avLst/>
          </a:prstGeom>
          <a:solidFill>
            <a:srgbClr val="008D9F"/>
          </a:solidFill>
          <a:ln w="8255">
            <a:solidFill>
              <a:srgbClr val="008D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039112"/>
            <a:ext cx="4599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Sygnał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2551176"/>
            <a:ext cx="454456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Artefakty mogą wyglądać jak aktywność mózgu.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5248656" cy="1728216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783080"/>
            <a:ext cx="64008" cy="1728216"/>
          </a:xfrm>
          <a:prstGeom prst="rect">
            <a:avLst/>
          </a:prstGeom>
          <a:solidFill>
            <a:srgbClr val="008D9F"/>
          </a:solidFill>
          <a:ln w="8255">
            <a:solidFill>
              <a:srgbClr val="008D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2039112"/>
            <a:ext cx="4599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19672" y="2551176"/>
            <a:ext cx="454456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Parametry filtracji i Welcha zmieniają PSD.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" y="3758184"/>
            <a:ext cx="5248656" cy="1728216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758184"/>
            <a:ext cx="64008" cy="1728216"/>
          </a:xfrm>
          <a:prstGeom prst="rect">
            <a:avLst/>
          </a:prstGeom>
          <a:solidFill>
            <a:srgbClr val="7165C8"/>
          </a:solidFill>
          <a:ln w="8255">
            <a:solidFill>
              <a:srgbClr val="008D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4014216"/>
            <a:ext cx="4599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4526280"/>
            <a:ext cx="454456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Poprawny BIDS nie dowodzi jakości rejestracji.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3758184"/>
            <a:ext cx="5248656" cy="1728216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8255">
            <a:solidFill>
              <a:srgbClr val="DBE6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758184"/>
            <a:ext cx="64008" cy="1728216"/>
          </a:xfrm>
          <a:prstGeom prst="rect">
            <a:avLst/>
          </a:prstGeom>
          <a:solidFill>
            <a:srgbClr val="D06554"/>
          </a:solidFill>
          <a:ln w="8255">
            <a:solidFill>
              <a:srgbClr val="D065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4014216"/>
            <a:ext cx="4599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Symulacja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19672" y="4526280"/>
            <a:ext cx="454456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Algorytm ≠ wynik empiryczny ani diagnoza.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7512" y="5879592"/>
            <a:ext cx="10762488" cy="466344"/>
          </a:xfrm>
          <a:prstGeom prst="roundRect">
            <a:avLst>
              <a:gd name="adj" fmla="val 25490"/>
            </a:avLst>
          </a:prstGeom>
          <a:solidFill>
            <a:srgbClr val="E2F7F6"/>
          </a:solidFill>
          <a:ln w="8255">
            <a:solidFill>
              <a:srgbClr val="E2F7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5934456"/>
            <a:ext cx="10314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Reprodukowalność jest warunkiem rzetelności, ale nie gwarancją trafności.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C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" y="612648"/>
            <a:ext cx="10927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Trzy elementy, jeden odtwarzalny proces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67512" y="1920240"/>
            <a:ext cx="3538728" cy="2194560"/>
          </a:xfrm>
          <a:prstGeom prst="roundRect">
            <a:avLst>
              <a:gd name="adj" fmla="val 5417"/>
            </a:avLst>
          </a:prstGeom>
          <a:solidFill>
            <a:srgbClr val="13374D"/>
          </a:solidFill>
          <a:ln w="8255">
            <a:solidFill>
              <a:srgbClr val="2351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" y="1920240"/>
            <a:ext cx="3538728" cy="82296"/>
          </a:xfrm>
          <a:prstGeom prst="rect">
            <a:avLst/>
          </a:prstGeom>
          <a:solidFill>
            <a:srgbClr val="20C0BF"/>
          </a:solidFill>
          <a:ln w="8255">
            <a:solidFill>
              <a:srgbClr val="20C0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2295144"/>
            <a:ext cx="3026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EEG-BIDS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05256" y="3081528"/>
            <a:ext cx="3026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BBD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 + metadane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89704" y="1920240"/>
            <a:ext cx="3538728" cy="2194560"/>
          </a:xfrm>
          <a:prstGeom prst="roundRect">
            <a:avLst>
              <a:gd name="adj" fmla="val 5417"/>
            </a:avLst>
          </a:prstGeom>
          <a:solidFill>
            <a:srgbClr val="13374D"/>
          </a:solidFill>
          <a:ln w="8255">
            <a:solidFill>
              <a:srgbClr val="2351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9704" y="1920240"/>
            <a:ext cx="3538728" cy="82296"/>
          </a:xfrm>
          <a:prstGeom prst="rect">
            <a:avLst/>
          </a:prstGeom>
          <a:solidFill>
            <a:srgbClr val="7165C8"/>
          </a:solidFill>
          <a:ln w="8255">
            <a:solidFill>
              <a:srgbClr val="716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45736" y="2295144"/>
            <a:ext cx="3026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/ MNE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727448" y="3081528"/>
            <a:ext cx="3026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BBD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Jawna analiza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311896" y="1920240"/>
            <a:ext cx="3538728" cy="2194560"/>
          </a:xfrm>
          <a:prstGeom prst="roundRect">
            <a:avLst>
              <a:gd name="adj" fmla="val 5417"/>
            </a:avLst>
          </a:prstGeom>
          <a:solidFill>
            <a:srgbClr val="13374D"/>
          </a:solidFill>
          <a:ln w="8255">
            <a:solidFill>
              <a:srgbClr val="2351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11896" y="1920240"/>
            <a:ext cx="3538728" cy="82296"/>
          </a:xfrm>
          <a:prstGeom prst="rect">
            <a:avLst/>
          </a:prstGeom>
          <a:solidFill>
            <a:srgbClr val="20C0BF"/>
          </a:solidFill>
          <a:ln w="8255">
            <a:solidFill>
              <a:srgbClr val="20C0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7928" y="2295144"/>
            <a:ext cx="3026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EEG Neurolyze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549640" y="3081528"/>
            <a:ext cx="3026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BBD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Pokaz na symulacji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22376" y="481888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1D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Klucz: zachować źródła danych, parametry, wersje i ograniczenia.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" y="5669280"/>
            <a:ext cx="10735056" cy="0"/>
          </a:xfrm>
          <a:prstGeom prst="line">
            <a:avLst/>
          </a:prstGeom>
          <a:noFill/>
          <a:ln w="12700">
            <a:solidFill>
              <a:srgbClr val="386075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713232" y="5916168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DD3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Źródła: BIDS Specification · MNE-BIDS · PhysioNet EEGMMIDB · EEG Neurolyze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3232" y="641908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809D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Mateusz Pomianek · Psychofizjologia i pomiar EEG · 2026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 sygnału EEG do reprodukowalnych wyników badań</dc:title>
  <dc:subject>Psychofizjologia i pomiar EEG</dc:subject>
  <dc:creator>Mateusz Pomianek</dc:creator>
  <cp:lastModifiedBy>Mateusz Pomianek</cp:lastModifiedBy>
  <cp:revision>1</cp:revision>
  <dcterms:created xsi:type="dcterms:W3CDTF">2026-10-28T17:55:24Z</dcterms:created>
  <dcterms:modified xsi:type="dcterms:W3CDTF">2026-10-28T17:55:24Z</dcterms:modified>
</cp:coreProperties>
</file>